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60" r:id="rId4"/>
    <p:sldId id="258" r:id="rId5"/>
    <p:sldId id="259" r:id="rId6"/>
    <p:sldId id="269" r:id="rId7"/>
    <p:sldId id="274" r:id="rId8"/>
    <p:sldId id="261" r:id="rId9"/>
    <p:sldId id="273" r:id="rId10"/>
    <p:sldId id="275" r:id="rId11"/>
    <p:sldId id="276" r:id="rId12"/>
    <p:sldId id="262" r:id="rId13"/>
    <p:sldId id="263" r:id="rId14"/>
    <p:sldId id="264" r:id="rId15"/>
    <p:sldId id="279" r:id="rId16"/>
    <p:sldId id="280" r:id="rId17"/>
    <p:sldId id="281" r:id="rId18"/>
    <p:sldId id="265" r:id="rId19"/>
    <p:sldId id="272" r:id="rId20"/>
    <p:sldId id="277" r:id="rId21"/>
    <p:sldId id="278" r:id="rId22"/>
    <p:sldId id="271"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AD8878-366E-4690-A8B6-9037D8F3DBD4}" v="3" dt="2024-10-21T07:59:27.6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581" autoAdjust="0"/>
  </p:normalViewPr>
  <p:slideViewPr>
    <p:cSldViewPr snapToGrid="0" snapToObjects="1">
      <p:cViewPr varScale="1">
        <p:scale>
          <a:sx n="75" d="100"/>
          <a:sy n="75" d="100"/>
        </p:scale>
        <p:origin x="1666"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zammil Farooqui" userId="a5fa1898-c897-43e2-98d7-050f3208c063" providerId="ADAL" clId="{F9AD8878-366E-4690-A8B6-9037D8F3DBD4}"/>
    <pc:docChg chg="custSel modSld">
      <pc:chgData name="Muzammil Farooqui" userId="a5fa1898-c897-43e2-98d7-050f3208c063" providerId="ADAL" clId="{F9AD8878-366E-4690-A8B6-9037D8F3DBD4}" dt="2024-10-21T08:00:50.459" v="104" actId="20577"/>
      <pc:docMkLst>
        <pc:docMk/>
      </pc:docMkLst>
      <pc:sldChg chg="modNotesTx">
        <pc:chgData name="Muzammil Farooqui" userId="a5fa1898-c897-43e2-98d7-050f3208c063" providerId="ADAL" clId="{F9AD8878-366E-4690-A8B6-9037D8F3DBD4}" dt="2024-10-21T08:00:50.459" v="104" actId="20577"/>
        <pc:sldMkLst>
          <pc:docMk/>
          <pc:sldMk cId="1214705867" sldId="272"/>
        </pc:sldMkLst>
      </pc:sldChg>
      <pc:sldChg chg="modNotesTx">
        <pc:chgData name="Muzammil Farooqui" userId="a5fa1898-c897-43e2-98d7-050f3208c063" providerId="ADAL" clId="{F9AD8878-366E-4690-A8B6-9037D8F3DBD4}" dt="2024-10-21T08:00:05.464" v="49" actId="20577"/>
        <pc:sldMkLst>
          <pc:docMk/>
          <pc:sldMk cId="1618927406" sldId="275"/>
        </pc:sldMkLst>
      </pc:sldChg>
      <pc:sldChg chg="modNotesTx">
        <pc:chgData name="Muzammil Farooqui" userId="a5fa1898-c897-43e2-98d7-050f3208c063" providerId="ADAL" clId="{F9AD8878-366E-4690-A8B6-9037D8F3DBD4}" dt="2024-10-21T07:58:49.834" v="1"/>
        <pc:sldMkLst>
          <pc:docMk/>
          <pc:sldMk cId="615728863" sldId="276"/>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7570EC8-EB90-48A5-B155-410011222D23}" type="doc">
      <dgm:prSet loTypeId="urn:microsoft.com/office/officeart/2018/5/layout/IconCircle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02E05645-B19C-4F7E-9640-F358C8578A3B}">
      <dgm:prSet/>
      <dgm:spPr/>
      <dgm:t>
        <a:bodyPr/>
        <a:lstStyle/>
        <a:p>
          <a:pPr>
            <a:defRPr cap="all"/>
          </a:pPr>
          <a:r>
            <a:rPr lang="en-GB"/>
            <a:t>Data breaches</a:t>
          </a:r>
          <a:endParaRPr lang="en-US"/>
        </a:p>
      </dgm:t>
    </dgm:pt>
    <dgm:pt modelId="{74BAC060-4CC1-45C7-9487-02BE8D77191F}" type="parTrans" cxnId="{02EFC050-2D81-48B7-8E54-554AF46E17B7}">
      <dgm:prSet/>
      <dgm:spPr/>
      <dgm:t>
        <a:bodyPr/>
        <a:lstStyle/>
        <a:p>
          <a:endParaRPr lang="en-US"/>
        </a:p>
      </dgm:t>
    </dgm:pt>
    <dgm:pt modelId="{D3BB209F-C8A8-4660-85C4-D13C2BFFABB1}" type="sibTrans" cxnId="{02EFC050-2D81-48B7-8E54-554AF46E17B7}">
      <dgm:prSet/>
      <dgm:spPr/>
      <dgm:t>
        <a:bodyPr/>
        <a:lstStyle/>
        <a:p>
          <a:endParaRPr lang="en-US"/>
        </a:p>
      </dgm:t>
    </dgm:pt>
    <dgm:pt modelId="{25844DFC-DFF3-441D-B2D7-A7147772B57F}">
      <dgm:prSet/>
      <dgm:spPr/>
      <dgm:t>
        <a:bodyPr/>
        <a:lstStyle/>
        <a:p>
          <a:pPr>
            <a:defRPr cap="all"/>
          </a:pPr>
          <a:r>
            <a:rPr lang="en-GB"/>
            <a:t>Financial loss</a:t>
          </a:r>
          <a:endParaRPr lang="en-US"/>
        </a:p>
      </dgm:t>
    </dgm:pt>
    <dgm:pt modelId="{433F1F0B-C4FD-47C6-8836-44AFCF3ACC9F}" type="parTrans" cxnId="{F9CA1794-3796-453C-8BB3-BA3A8740D037}">
      <dgm:prSet/>
      <dgm:spPr/>
      <dgm:t>
        <a:bodyPr/>
        <a:lstStyle/>
        <a:p>
          <a:endParaRPr lang="en-US"/>
        </a:p>
      </dgm:t>
    </dgm:pt>
    <dgm:pt modelId="{5D6AD5AA-2B21-46EF-B6C3-46268BE747D8}" type="sibTrans" cxnId="{F9CA1794-3796-453C-8BB3-BA3A8740D037}">
      <dgm:prSet/>
      <dgm:spPr/>
      <dgm:t>
        <a:bodyPr/>
        <a:lstStyle/>
        <a:p>
          <a:endParaRPr lang="en-US"/>
        </a:p>
      </dgm:t>
    </dgm:pt>
    <dgm:pt modelId="{639A06E1-59BE-4499-841C-5D5C191367F3}">
      <dgm:prSet/>
      <dgm:spPr/>
      <dgm:t>
        <a:bodyPr/>
        <a:lstStyle/>
        <a:p>
          <a:pPr>
            <a:defRPr cap="all"/>
          </a:pPr>
          <a:r>
            <a:rPr lang="en-GB" dirty="0"/>
            <a:t>Compromised accounts </a:t>
          </a:r>
          <a:endParaRPr lang="en-US" dirty="0"/>
        </a:p>
      </dgm:t>
    </dgm:pt>
    <dgm:pt modelId="{C75145D9-21E4-483F-A47A-5207CD1C8AB7}" type="parTrans" cxnId="{71FA4E29-9E30-4DAD-A8E1-FDD1C7D8FC27}">
      <dgm:prSet/>
      <dgm:spPr/>
      <dgm:t>
        <a:bodyPr/>
        <a:lstStyle/>
        <a:p>
          <a:endParaRPr lang="en-US"/>
        </a:p>
      </dgm:t>
    </dgm:pt>
    <dgm:pt modelId="{811A75F9-EBA9-47E3-831C-C62801D1624F}" type="sibTrans" cxnId="{71FA4E29-9E30-4DAD-A8E1-FDD1C7D8FC27}">
      <dgm:prSet/>
      <dgm:spPr/>
      <dgm:t>
        <a:bodyPr/>
        <a:lstStyle/>
        <a:p>
          <a:endParaRPr lang="en-US"/>
        </a:p>
      </dgm:t>
    </dgm:pt>
    <dgm:pt modelId="{12DDFAF5-511C-4E3B-8ADE-319058D4FED6}" type="pres">
      <dgm:prSet presAssocID="{17570EC8-EB90-48A5-B155-410011222D23}" presName="root" presStyleCnt="0">
        <dgm:presLayoutVars>
          <dgm:dir/>
          <dgm:resizeHandles val="exact"/>
        </dgm:presLayoutVars>
      </dgm:prSet>
      <dgm:spPr/>
    </dgm:pt>
    <dgm:pt modelId="{DC19DFEB-5496-449E-9B55-1D958040AC81}" type="pres">
      <dgm:prSet presAssocID="{02E05645-B19C-4F7E-9640-F358C8578A3B}" presName="compNode" presStyleCnt="0"/>
      <dgm:spPr/>
    </dgm:pt>
    <dgm:pt modelId="{75E06F3E-173B-46A5-B67D-94BBDC4F3E19}" type="pres">
      <dgm:prSet presAssocID="{02E05645-B19C-4F7E-9640-F358C8578A3B}" presName="iconBgRect" presStyleLbl="bgShp" presStyleIdx="0" presStyleCnt="3"/>
      <dgm:spPr/>
    </dgm:pt>
    <dgm:pt modelId="{B71B9836-3F28-46D6-B205-9299C1B66E5C}" type="pres">
      <dgm:prSet presAssocID="{02E05645-B19C-4F7E-9640-F358C8578A3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ck"/>
        </a:ext>
      </dgm:extLst>
    </dgm:pt>
    <dgm:pt modelId="{B59B5472-AC3E-498E-81F4-86CE6A630A3A}" type="pres">
      <dgm:prSet presAssocID="{02E05645-B19C-4F7E-9640-F358C8578A3B}" presName="spaceRect" presStyleCnt="0"/>
      <dgm:spPr/>
    </dgm:pt>
    <dgm:pt modelId="{08F0F9C3-317F-446F-9F22-61A9534A2C35}" type="pres">
      <dgm:prSet presAssocID="{02E05645-B19C-4F7E-9640-F358C8578A3B}" presName="textRect" presStyleLbl="revTx" presStyleIdx="0" presStyleCnt="3">
        <dgm:presLayoutVars>
          <dgm:chMax val="1"/>
          <dgm:chPref val="1"/>
        </dgm:presLayoutVars>
      </dgm:prSet>
      <dgm:spPr/>
    </dgm:pt>
    <dgm:pt modelId="{D7E4C559-3F00-450A-99E3-B154B6D608E6}" type="pres">
      <dgm:prSet presAssocID="{D3BB209F-C8A8-4660-85C4-D13C2BFFABB1}" presName="sibTrans" presStyleCnt="0"/>
      <dgm:spPr/>
    </dgm:pt>
    <dgm:pt modelId="{C0159C8E-8B10-4848-8822-4585B70F6C5E}" type="pres">
      <dgm:prSet presAssocID="{25844DFC-DFF3-441D-B2D7-A7147772B57F}" presName="compNode" presStyleCnt="0"/>
      <dgm:spPr/>
    </dgm:pt>
    <dgm:pt modelId="{53EB103A-2D5E-401E-B23C-92ADD76B842E}" type="pres">
      <dgm:prSet presAssocID="{25844DFC-DFF3-441D-B2D7-A7147772B57F}" presName="iconBgRect" presStyleLbl="bgShp" presStyleIdx="1" presStyleCnt="3"/>
      <dgm:spPr/>
    </dgm:pt>
    <dgm:pt modelId="{602BEAA9-1357-4BB3-84A3-6CF6FFF88E35}" type="pres">
      <dgm:prSet presAssocID="{25844DFC-DFF3-441D-B2D7-A7147772B57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wnward trend"/>
        </a:ext>
      </dgm:extLst>
    </dgm:pt>
    <dgm:pt modelId="{3C7C7716-1E42-4892-BD27-BB33247FB8A5}" type="pres">
      <dgm:prSet presAssocID="{25844DFC-DFF3-441D-B2D7-A7147772B57F}" presName="spaceRect" presStyleCnt="0"/>
      <dgm:spPr/>
    </dgm:pt>
    <dgm:pt modelId="{A58B9290-2468-4FE5-A790-AEEE7F6E917A}" type="pres">
      <dgm:prSet presAssocID="{25844DFC-DFF3-441D-B2D7-A7147772B57F}" presName="textRect" presStyleLbl="revTx" presStyleIdx="1" presStyleCnt="3">
        <dgm:presLayoutVars>
          <dgm:chMax val="1"/>
          <dgm:chPref val="1"/>
        </dgm:presLayoutVars>
      </dgm:prSet>
      <dgm:spPr/>
    </dgm:pt>
    <dgm:pt modelId="{7227AA4B-CD6D-4B79-A4AF-F12CCFFC93FE}" type="pres">
      <dgm:prSet presAssocID="{5D6AD5AA-2B21-46EF-B6C3-46268BE747D8}" presName="sibTrans" presStyleCnt="0"/>
      <dgm:spPr/>
    </dgm:pt>
    <dgm:pt modelId="{C9412574-6253-4461-AA45-0C10BD4D8885}" type="pres">
      <dgm:prSet presAssocID="{639A06E1-59BE-4499-841C-5D5C191367F3}" presName="compNode" presStyleCnt="0"/>
      <dgm:spPr/>
    </dgm:pt>
    <dgm:pt modelId="{23FA25F1-70B2-4AE2-BAB3-FB814BCB7867}" type="pres">
      <dgm:prSet presAssocID="{639A06E1-59BE-4499-841C-5D5C191367F3}" presName="iconBgRect" presStyleLbl="bgShp" presStyleIdx="2" presStyleCnt="3"/>
      <dgm:spPr/>
    </dgm:pt>
    <dgm:pt modelId="{D3AAC8C6-FEBA-44A4-87A4-1DD08DBF99FF}" type="pres">
      <dgm:prSet presAssocID="{639A06E1-59BE-4499-841C-5D5C191367F3}"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User with solid fill"/>
        </a:ext>
      </dgm:extLst>
    </dgm:pt>
    <dgm:pt modelId="{618077B8-E761-450A-9775-AEBCDF498A4E}" type="pres">
      <dgm:prSet presAssocID="{639A06E1-59BE-4499-841C-5D5C191367F3}" presName="spaceRect" presStyleCnt="0"/>
      <dgm:spPr/>
    </dgm:pt>
    <dgm:pt modelId="{42CA1322-504C-4E04-8641-E09CD88B3B00}" type="pres">
      <dgm:prSet presAssocID="{639A06E1-59BE-4499-841C-5D5C191367F3}" presName="textRect" presStyleLbl="revTx" presStyleIdx="2" presStyleCnt="3">
        <dgm:presLayoutVars>
          <dgm:chMax val="1"/>
          <dgm:chPref val="1"/>
        </dgm:presLayoutVars>
      </dgm:prSet>
      <dgm:spPr/>
    </dgm:pt>
  </dgm:ptLst>
  <dgm:cxnLst>
    <dgm:cxn modelId="{71FA4E29-9E30-4DAD-A8E1-FDD1C7D8FC27}" srcId="{17570EC8-EB90-48A5-B155-410011222D23}" destId="{639A06E1-59BE-4499-841C-5D5C191367F3}" srcOrd="2" destOrd="0" parTransId="{C75145D9-21E4-483F-A47A-5207CD1C8AB7}" sibTransId="{811A75F9-EBA9-47E3-831C-C62801D1624F}"/>
    <dgm:cxn modelId="{02EFC050-2D81-48B7-8E54-554AF46E17B7}" srcId="{17570EC8-EB90-48A5-B155-410011222D23}" destId="{02E05645-B19C-4F7E-9640-F358C8578A3B}" srcOrd="0" destOrd="0" parTransId="{74BAC060-4CC1-45C7-9487-02BE8D77191F}" sibTransId="{D3BB209F-C8A8-4660-85C4-D13C2BFFABB1}"/>
    <dgm:cxn modelId="{9B535177-5D2B-4AE1-A4F2-34EA22758A3A}" type="presOf" srcId="{17570EC8-EB90-48A5-B155-410011222D23}" destId="{12DDFAF5-511C-4E3B-8ADE-319058D4FED6}" srcOrd="0" destOrd="0" presId="urn:microsoft.com/office/officeart/2018/5/layout/IconCircleLabelList"/>
    <dgm:cxn modelId="{BFB8BE92-7139-4B33-971F-F865242C8298}" type="presOf" srcId="{25844DFC-DFF3-441D-B2D7-A7147772B57F}" destId="{A58B9290-2468-4FE5-A790-AEEE7F6E917A}" srcOrd="0" destOrd="0" presId="urn:microsoft.com/office/officeart/2018/5/layout/IconCircleLabelList"/>
    <dgm:cxn modelId="{F9CA1794-3796-453C-8BB3-BA3A8740D037}" srcId="{17570EC8-EB90-48A5-B155-410011222D23}" destId="{25844DFC-DFF3-441D-B2D7-A7147772B57F}" srcOrd="1" destOrd="0" parTransId="{433F1F0B-C4FD-47C6-8836-44AFCF3ACC9F}" sibTransId="{5D6AD5AA-2B21-46EF-B6C3-46268BE747D8}"/>
    <dgm:cxn modelId="{9459A395-AE9D-4E49-9F77-F795A0479C02}" type="presOf" srcId="{02E05645-B19C-4F7E-9640-F358C8578A3B}" destId="{08F0F9C3-317F-446F-9F22-61A9534A2C35}" srcOrd="0" destOrd="0" presId="urn:microsoft.com/office/officeart/2018/5/layout/IconCircleLabelList"/>
    <dgm:cxn modelId="{BA1DA8D5-7B47-4D59-BE45-841A3499C159}" type="presOf" srcId="{639A06E1-59BE-4499-841C-5D5C191367F3}" destId="{42CA1322-504C-4E04-8641-E09CD88B3B00}" srcOrd="0" destOrd="0" presId="urn:microsoft.com/office/officeart/2018/5/layout/IconCircleLabelList"/>
    <dgm:cxn modelId="{02ED8359-FC19-48C1-B9FE-0851D87F0E40}" type="presParOf" srcId="{12DDFAF5-511C-4E3B-8ADE-319058D4FED6}" destId="{DC19DFEB-5496-449E-9B55-1D958040AC81}" srcOrd="0" destOrd="0" presId="urn:microsoft.com/office/officeart/2018/5/layout/IconCircleLabelList"/>
    <dgm:cxn modelId="{24422A08-6F89-4B31-AEC5-593E377EDFBE}" type="presParOf" srcId="{DC19DFEB-5496-449E-9B55-1D958040AC81}" destId="{75E06F3E-173B-46A5-B67D-94BBDC4F3E19}" srcOrd="0" destOrd="0" presId="urn:microsoft.com/office/officeart/2018/5/layout/IconCircleLabelList"/>
    <dgm:cxn modelId="{053DEA8F-54A6-49DB-AAE2-29498DD5D7DF}" type="presParOf" srcId="{DC19DFEB-5496-449E-9B55-1D958040AC81}" destId="{B71B9836-3F28-46D6-B205-9299C1B66E5C}" srcOrd="1" destOrd="0" presId="urn:microsoft.com/office/officeart/2018/5/layout/IconCircleLabelList"/>
    <dgm:cxn modelId="{BD05B6CA-9E43-4DEF-B908-6F5BD3D1A8F5}" type="presParOf" srcId="{DC19DFEB-5496-449E-9B55-1D958040AC81}" destId="{B59B5472-AC3E-498E-81F4-86CE6A630A3A}" srcOrd="2" destOrd="0" presId="urn:microsoft.com/office/officeart/2018/5/layout/IconCircleLabelList"/>
    <dgm:cxn modelId="{D0B6AFCA-1961-4DE6-8532-8690F1203B14}" type="presParOf" srcId="{DC19DFEB-5496-449E-9B55-1D958040AC81}" destId="{08F0F9C3-317F-446F-9F22-61A9534A2C35}" srcOrd="3" destOrd="0" presId="urn:microsoft.com/office/officeart/2018/5/layout/IconCircleLabelList"/>
    <dgm:cxn modelId="{F1573E4A-54D4-4BD0-B757-8F26833E416B}" type="presParOf" srcId="{12DDFAF5-511C-4E3B-8ADE-319058D4FED6}" destId="{D7E4C559-3F00-450A-99E3-B154B6D608E6}" srcOrd="1" destOrd="0" presId="urn:microsoft.com/office/officeart/2018/5/layout/IconCircleLabelList"/>
    <dgm:cxn modelId="{10244D15-4440-4B62-908F-CED5EF6A2D5F}" type="presParOf" srcId="{12DDFAF5-511C-4E3B-8ADE-319058D4FED6}" destId="{C0159C8E-8B10-4848-8822-4585B70F6C5E}" srcOrd="2" destOrd="0" presId="urn:microsoft.com/office/officeart/2018/5/layout/IconCircleLabelList"/>
    <dgm:cxn modelId="{11A872E5-D485-4B21-A547-32DD04B7386E}" type="presParOf" srcId="{C0159C8E-8B10-4848-8822-4585B70F6C5E}" destId="{53EB103A-2D5E-401E-B23C-92ADD76B842E}" srcOrd="0" destOrd="0" presId="urn:microsoft.com/office/officeart/2018/5/layout/IconCircleLabelList"/>
    <dgm:cxn modelId="{D0F84A00-4472-458C-A759-0EDAFC50D27A}" type="presParOf" srcId="{C0159C8E-8B10-4848-8822-4585B70F6C5E}" destId="{602BEAA9-1357-4BB3-84A3-6CF6FFF88E35}" srcOrd="1" destOrd="0" presId="urn:microsoft.com/office/officeart/2018/5/layout/IconCircleLabelList"/>
    <dgm:cxn modelId="{A9DB33DB-A142-4CC3-9CE4-4FFCE08EC4A6}" type="presParOf" srcId="{C0159C8E-8B10-4848-8822-4585B70F6C5E}" destId="{3C7C7716-1E42-4892-BD27-BB33247FB8A5}" srcOrd="2" destOrd="0" presId="urn:microsoft.com/office/officeart/2018/5/layout/IconCircleLabelList"/>
    <dgm:cxn modelId="{B879F94B-2BB8-4C0C-9725-93316AC0E25D}" type="presParOf" srcId="{C0159C8E-8B10-4848-8822-4585B70F6C5E}" destId="{A58B9290-2468-4FE5-A790-AEEE7F6E917A}" srcOrd="3" destOrd="0" presId="urn:microsoft.com/office/officeart/2018/5/layout/IconCircleLabelList"/>
    <dgm:cxn modelId="{7DF1D3BB-95E1-40B4-8253-88A202B25695}" type="presParOf" srcId="{12DDFAF5-511C-4E3B-8ADE-319058D4FED6}" destId="{7227AA4B-CD6D-4B79-A4AF-F12CCFFC93FE}" srcOrd="3" destOrd="0" presId="urn:microsoft.com/office/officeart/2018/5/layout/IconCircleLabelList"/>
    <dgm:cxn modelId="{E21A3594-0054-4D71-8807-C4180A223BB6}" type="presParOf" srcId="{12DDFAF5-511C-4E3B-8ADE-319058D4FED6}" destId="{C9412574-6253-4461-AA45-0C10BD4D8885}" srcOrd="4" destOrd="0" presId="urn:microsoft.com/office/officeart/2018/5/layout/IconCircleLabelList"/>
    <dgm:cxn modelId="{0AF0CA79-A21E-49C8-B6CE-15D67C9BC61F}" type="presParOf" srcId="{C9412574-6253-4461-AA45-0C10BD4D8885}" destId="{23FA25F1-70B2-4AE2-BAB3-FB814BCB7867}" srcOrd="0" destOrd="0" presId="urn:microsoft.com/office/officeart/2018/5/layout/IconCircleLabelList"/>
    <dgm:cxn modelId="{98838016-0F8E-4078-BB35-740B43967DBD}" type="presParOf" srcId="{C9412574-6253-4461-AA45-0C10BD4D8885}" destId="{D3AAC8C6-FEBA-44A4-87A4-1DD08DBF99FF}" srcOrd="1" destOrd="0" presId="urn:microsoft.com/office/officeart/2018/5/layout/IconCircleLabelList"/>
    <dgm:cxn modelId="{DA516E26-6D4A-4A5A-8F1C-CB9C47812E4F}" type="presParOf" srcId="{C9412574-6253-4461-AA45-0C10BD4D8885}" destId="{618077B8-E761-450A-9775-AEBCDF498A4E}" srcOrd="2" destOrd="0" presId="urn:microsoft.com/office/officeart/2018/5/layout/IconCircleLabelList"/>
    <dgm:cxn modelId="{21FD600D-B205-4BE7-A41B-22B44AE51106}" type="presParOf" srcId="{C9412574-6253-4461-AA45-0C10BD4D8885}" destId="{42CA1322-504C-4E04-8641-E09CD88B3B00}"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D224CAD-BB2F-4FB0-888C-EF3837B69121}"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D5D564F7-A166-40C9-B309-DFF284B54221}">
      <dgm:prSet/>
      <dgm:spPr/>
      <dgm:t>
        <a:bodyPr/>
        <a:lstStyle/>
        <a:p>
          <a:r>
            <a:rPr lang="en-GB"/>
            <a:t>Threat Explorer</a:t>
          </a:r>
          <a:endParaRPr lang="en-US"/>
        </a:p>
      </dgm:t>
    </dgm:pt>
    <dgm:pt modelId="{C0C71024-5D7C-43C1-9215-0ED680322673}" type="parTrans" cxnId="{1177C858-59D5-48CC-BC68-B98BC1A0DDCF}">
      <dgm:prSet/>
      <dgm:spPr/>
      <dgm:t>
        <a:bodyPr/>
        <a:lstStyle/>
        <a:p>
          <a:endParaRPr lang="en-US"/>
        </a:p>
      </dgm:t>
    </dgm:pt>
    <dgm:pt modelId="{9D408CFF-61C6-4DF1-96F8-42C2FD90636E}" type="sibTrans" cxnId="{1177C858-59D5-48CC-BC68-B98BC1A0DDCF}">
      <dgm:prSet/>
      <dgm:spPr/>
      <dgm:t>
        <a:bodyPr/>
        <a:lstStyle/>
        <a:p>
          <a:endParaRPr lang="en-US"/>
        </a:p>
      </dgm:t>
    </dgm:pt>
    <dgm:pt modelId="{D1D2838C-FCA8-4A49-82FA-AC753FE1D81D}">
      <dgm:prSet/>
      <dgm:spPr/>
      <dgm:t>
        <a:bodyPr/>
        <a:lstStyle/>
        <a:p>
          <a:r>
            <a:rPr lang="en-GB"/>
            <a:t>Quarantine and Message Trace</a:t>
          </a:r>
          <a:endParaRPr lang="en-US"/>
        </a:p>
      </dgm:t>
    </dgm:pt>
    <dgm:pt modelId="{0B1B9AF0-67F4-42BD-8D41-ADCBAF404401}" type="parTrans" cxnId="{883AF6A2-8708-439F-A4B0-6A3FE41FD4E4}">
      <dgm:prSet/>
      <dgm:spPr/>
      <dgm:t>
        <a:bodyPr/>
        <a:lstStyle/>
        <a:p>
          <a:endParaRPr lang="en-US"/>
        </a:p>
      </dgm:t>
    </dgm:pt>
    <dgm:pt modelId="{85A15415-4378-405F-8ADB-75DE928B0C96}" type="sibTrans" cxnId="{883AF6A2-8708-439F-A4B0-6A3FE41FD4E4}">
      <dgm:prSet/>
      <dgm:spPr/>
      <dgm:t>
        <a:bodyPr/>
        <a:lstStyle/>
        <a:p>
          <a:endParaRPr lang="en-US"/>
        </a:p>
      </dgm:t>
    </dgm:pt>
    <dgm:pt modelId="{5A400329-D2D4-40F6-9A94-2FEC0AF480F0}">
      <dgm:prSet/>
      <dgm:spPr/>
      <dgm:t>
        <a:bodyPr/>
        <a:lstStyle/>
        <a:p>
          <a:r>
            <a:rPr lang="en-US"/>
            <a:t>Unified Audit Log: Track interactions like opening the email or clicking links.</a:t>
          </a:r>
        </a:p>
      </dgm:t>
    </dgm:pt>
    <dgm:pt modelId="{CDEB600E-625E-49B2-8AF8-53E2BB47B1A5}" type="parTrans" cxnId="{0FA6D0F3-5C85-468B-9F0C-63D627BEC6C0}">
      <dgm:prSet/>
      <dgm:spPr/>
      <dgm:t>
        <a:bodyPr/>
        <a:lstStyle/>
        <a:p>
          <a:endParaRPr lang="en-US"/>
        </a:p>
      </dgm:t>
    </dgm:pt>
    <dgm:pt modelId="{D08C6F6A-146E-48F0-B203-5B2C703F9983}" type="sibTrans" cxnId="{0FA6D0F3-5C85-468B-9F0C-63D627BEC6C0}">
      <dgm:prSet/>
      <dgm:spPr/>
      <dgm:t>
        <a:bodyPr/>
        <a:lstStyle/>
        <a:p>
          <a:endParaRPr lang="en-US"/>
        </a:p>
      </dgm:t>
    </dgm:pt>
    <dgm:pt modelId="{622F2B7B-368D-4FB3-887F-ABFD479320DA}">
      <dgm:prSet/>
      <dgm:spPr/>
      <dgm:t>
        <a:bodyPr/>
        <a:lstStyle/>
        <a:p>
          <a:r>
            <a:rPr lang="en-US"/>
            <a:t>Sign-in Audit Logs</a:t>
          </a:r>
        </a:p>
      </dgm:t>
    </dgm:pt>
    <dgm:pt modelId="{560F70D1-6DFD-4448-B341-521CB9994665}" type="parTrans" cxnId="{6CB3938A-9F3E-4115-9EF5-93796BA9BF56}">
      <dgm:prSet/>
      <dgm:spPr/>
      <dgm:t>
        <a:bodyPr/>
        <a:lstStyle/>
        <a:p>
          <a:endParaRPr lang="en-US"/>
        </a:p>
      </dgm:t>
    </dgm:pt>
    <dgm:pt modelId="{3B2F16C0-384D-476E-AB75-0B81A5F737D8}" type="sibTrans" cxnId="{6CB3938A-9F3E-4115-9EF5-93796BA9BF56}">
      <dgm:prSet/>
      <dgm:spPr/>
      <dgm:t>
        <a:bodyPr/>
        <a:lstStyle/>
        <a:p>
          <a:endParaRPr lang="en-US"/>
        </a:p>
      </dgm:t>
    </dgm:pt>
    <dgm:pt modelId="{C616D231-FBB7-460A-9E9D-2C134BA978AA}">
      <dgm:prSet/>
      <dgm:spPr/>
      <dgm:t>
        <a:bodyPr/>
        <a:lstStyle/>
        <a:p>
          <a:r>
            <a:rPr lang="en-GB"/>
            <a:t>Anti-Spam and Anti-Phishing Protection</a:t>
          </a:r>
          <a:endParaRPr lang="en-US"/>
        </a:p>
      </dgm:t>
    </dgm:pt>
    <dgm:pt modelId="{C57B14AA-22EE-4FF2-9D9F-2BA49CFB5CE0}" type="parTrans" cxnId="{627D3B01-9403-4DC9-840F-360D3CCC2222}">
      <dgm:prSet/>
      <dgm:spPr/>
      <dgm:t>
        <a:bodyPr/>
        <a:lstStyle/>
        <a:p>
          <a:endParaRPr lang="en-US"/>
        </a:p>
      </dgm:t>
    </dgm:pt>
    <dgm:pt modelId="{168EEB2F-F9A8-44CC-B0B1-EC01B491725C}" type="sibTrans" cxnId="{627D3B01-9403-4DC9-840F-360D3CCC2222}">
      <dgm:prSet/>
      <dgm:spPr/>
      <dgm:t>
        <a:bodyPr/>
        <a:lstStyle/>
        <a:p>
          <a:endParaRPr lang="en-US"/>
        </a:p>
      </dgm:t>
    </dgm:pt>
    <dgm:pt modelId="{C06A1DE8-3A5F-42E2-83E0-FDFE923FA657}">
      <dgm:prSet/>
      <dgm:spPr/>
      <dgm:t>
        <a:bodyPr/>
        <a:lstStyle/>
        <a:p>
          <a:r>
            <a:rPr lang="en-GB"/>
            <a:t>Anti-Malware Protection</a:t>
          </a:r>
          <a:endParaRPr lang="en-US"/>
        </a:p>
      </dgm:t>
    </dgm:pt>
    <dgm:pt modelId="{47B692CA-A57B-4AB1-8CB0-553862C98BA8}" type="parTrans" cxnId="{702CEFE7-7762-407E-900E-DD082DAA0A84}">
      <dgm:prSet/>
      <dgm:spPr/>
      <dgm:t>
        <a:bodyPr/>
        <a:lstStyle/>
        <a:p>
          <a:endParaRPr lang="en-US"/>
        </a:p>
      </dgm:t>
    </dgm:pt>
    <dgm:pt modelId="{7F1B9E77-23D1-4194-AE3D-3DC29E89AB38}" type="sibTrans" cxnId="{702CEFE7-7762-407E-900E-DD082DAA0A84}">
      <dgm:prSet/>
      <dgm:spPr/>
      <dgm:t>
        <a:bodyPr/>
        <a:lstStyle/>
        <a:p>
          <a:endParaRPr lang="en-US"/>
        </a:p>
      </dgm:t>
    </dgm:pt>
    <dgm:pt modelId="{E2ADEFFD-1C76-4DC2-9301-E4A16989CB74}">
      <dgm:prSet/>
      <dgm:spPr/>
      <dgm:t>
        <a:bodyPr/>
        <a:lstStyle/>
        <a:p>
          <a:r>
            <a:rPr lang="en-GB"/>
            <a:t>Threat Intelligence Reporting</a:t>
          </a:r>
          <a:endParaRPr lang="en-US"/>
        </a:p>
      </dgm:t>
    </dgm:pt>
    <dgm:pt modelId="{8DC7249F-D8AF-4C8E-A8A8-AFC6997ED179}" type="parTrans" cxnId="{068D962A-3BFC-4056-A69D-8B4C95420B36}">
      <dgm:prSet/>
      <dgm:spPr/>
      <dgm:t>
        <a:bodyPr/>
        <a:lstStyle/>
        <a:p>
          <a:endParaRPr lang="en-US"/>
        </a:p>
      </dgm:t>
    </dgm:pt>
    <dgm:pt modelId="{8092FD46-D3C0-4E42-AE7A-8D33D92D818A}" type="sibTrans" cxnId="{068D962A-3BFC-4056-A69D-8B4C95420B36}">
      <dgm:prSet/>
      <dgm:spPr/>
      <dgm:t>
        <a:bodyPr/>
        <a:lstStyle/>
        <a:p>
          <a:endParaRPr lang="en-US"/>
        </a:p>
      </dgm:t>
    </dgm:pt>
    <dgm:pt modelId="{53923797-3E58-491F-8C67-50B1B710BA76}">
      <dgm:prSet/>
      <dgm:spPr/>
      <dgm:t>
        <a:bodyPr/>
        <a:lstStyle/>
        <a:p>
          <a:r>
            <a:rPr lang="en-GB"/>
            <a:t>Mail flow rules</a:t>
          </a:r>
          <a:endParaRPr lang="en-US"/>
        </a:p>
      </dgm:t>
    </dgm:pt>
    <dgm:pt modelId="{39A0F379-B17D-429E-BBBC-7409D27A1745}" type="parTrans" cxnId="{59987DE5-0E0F-49B6-B148-0E9A3280607F}">
      <dgm:prSet/>
      <dgm:spPr/>
      <dgm:t>
        <a:bodyPr/>
        <a:lstStyle/>
        <a:p>
          <a:endParaRPr lang="en-US"/>
        </a:p>
      </dgm:t>
    </dgm:pt>
    <dgm:pt modelId="{5B285588-694B-4B23-AE03-9CDEF8C00910}" type="sibTrans" cxnId="{59987DE5-0E0F-49B6-B148-0E9A3280607F}">
      <dgm:prSet/>
      <dgm:spPr/>
      <dgm:t>
        <a:bodyPr/>
        <a:lstStyle/>
        <a:p>
          <a:endParaRPr lang="en-US"/>
        </a:p>
      </dgm:t>
    </dgm:pt>
    <dgm:pt modelId="{27404FC3-2EE8-47C9-8E50-3B94B1DA2C35}">
      <dgm:prSet/>
      <dgm:spPr/>
      <dgm:t>
        <a:bodyPr/>
        <a:lstStyle/>
        <a:p>
          <a:r>
            <a:rPr lang="en-GB"/>
            <a:t>Attack simulation training tool</a:t>
          </a:r>
          <a:endParaRPr lang="en-US"/>
        </a:p>
      </dgm:t>
    </dgm:pt>
    <dgm:pt modelId="{A4A652EA-6316-4701-90AE-1DB56BD0681D}" type="parTrans" cxnId="{9DBF263E-63B3-4941-B5BE-DA163FDA7894}">
      <dgm:prSet/>
      <dgm:spPr/>
      <dgm:t>
        <a:bodyPr/>
        <a:lstStyle/>
        <a:p>
          <a:endParaRPr lang="en-US"/>
        </a:p>
      </dgm:t>
    </dgm:pt>
    <dgm:pt modelId="{853B6660-3A2C-4110-A3F5-1B89622B2599}" type="sibTrans" cxnId="{9DBF263E-63B3-4941-B5BE-DA163FDA7894}">
      <dgm:prSet/>
      <dgm:spPr/>
      <dgm:t>
        <a:bodyPr/>
        <a:lstStyle/>
        <a:p>
          <a:endParaRPr lang="en-US"/>
        </a:p>
      </dgm:t>
    </dgm:pt>
    <dgm:pt modelId="{06F0E273-E819-47A3-BE41-F62298194FFB}" type="pres">
      <dgm:prSet presAssocID="{1D224CAD-BB2F-4FB0-888C-EF3837B69121}" presName="diagram" presStyleCnt="0">
        <dgm:presLayoutVars>
          <dgm:dir/>
          <dgm:resizeHandles val="exact"/>
        </dgm:presLayoutVars>
      </dgm:prSet>
      <dgm:spPr/>
    </dgm:pt>
    <dgm:pt modelId="{F4D663E2-0872-49A4-BE83-1ACF2A43307C}" type="pres">
      <dgm:prSet presAssocID="{D5D564F7-A166-40C9-B309-DFF284B54221}" presName="node" presStyleLbl="node1" presStyleIdx="0" presStyleCnt="9">
        <dgm:presLayoutVars>
          <dgm:bulletEnabled val="1"/>
        </dgm:presLayoutVars>
      </dgm:prSet>
      <dgm:spPr/>
    </dgm:pt>
    <dgm:pt modelId="{00E14A62-6F16-4C01-918B-26C0A19897FB}" type="pres">
      <dgm:prSet presAssocID="{9D408CFF-61C6-4DF1-96F8-42C2FD90636E}" presName="sibTrans" presStyleCnt="0"/>
      <dgm:spPr/>
    </dgm:pt>
    <dgm:pt modelId="{79E3AD5F-0523-4F14-83E4-B9F1C913FCDE}" type="pres">
      <dgm:prSet presAssocID="{D1D2838C-FCA8-4A49-82FA-AC753FE1D81D}" presName="node" presStyleLbl="node1" presStyleIdx="1" presStyleCnt="9">
        <dgm:presLayoutVars>
          <dgm:bulletEnabled val="1"/>
        </dgm:presLayoutVars>
      </dgm:prSet>
      <dgm:spPr/>
    </dgm:pt>
    <dgm:pt modelId="{1123CE97-31C4-4BAE-AF84-6324521A4015}" type="pres">
      <dgm:prSet presAssocID="{85A15415-4378-405F-8ADB-75DE928B0C96}" presName="sibTrans" presStyleCnt="0"/>
      <dgm:spPr/>
    </dgm:pt>
    <dgm:pt modelId="{572755D3-A709-4B96-93BF-116DF1F2AA35}" type="pres">
      <dgm:prSet presAssocID="{5A400329-D2D4-40F6-9A94-2FEC0AF480F0}" presName="node" presStyleLbl="node1" presStyleIdx="2" presStyleCnt="9">
        <dgm:presLayoutVars>
          <dgm:bulletEnabled val="1"/>
        </dgm:presLayoutVars>
      </dgm:prSet>
      <dgm:spPr/>
    </dgm:pt>
    <dgm:pt modelId="{34EF017F-666D-4BBA-92C5-75A11D65730C}" type="pres">
      <dgm:prSet presAssocID="{D08C6F6A-146E-48F0-B203-5B2C703F9983}" presName="sibTrans" presStyleCnt="0"/>
      <dgm:spPr/>
    </dgm:pt>
    <dgm:pt modelId="{8F029FCF-5591-4313-BC9B-27213A58D636}" type="pres">
      <dgm:prSet presAssocID="{622F2B7B-368D-4FB3-887F-ABFD479320DA}" presName="node" presStyleLbl="node1" presStyleIdx="3" presStyleCnt="9">
        <dgm:presLayoutVars>
          <dgm:bulletEnabled val="1"/>
        </dgm:presLayoutVars>
      </dgm:prSet>
      <dgm:spPr/>
    </dgm:pt>
    <dgm:pt modelId="{B5694CCE-CD59-47A6-A1FB-9861FF45F45D}" type="pres">
      <dgm:prSet presAssocID="{3B2F16C0-384D-476E-AB75-0B81A5F737D8}" presName="sibTrans" presStyleCnt="0"/>
      <dgm:spPr/>
    </dgm:pt>
    <dgm:pt modelId="{AD8723E2-1FCC-4C45-8AA2-C519217DE8A9}" type="pres">
      <dgm:prSet presAssocID="{C616D231-FBB7-460A-9E9D-2C134BA978AA}" presName="node" presStyleLbl="node1" presStyleIdx="4" presStyleCnt="9">
        <dgm:presLayoutVars>
          <dgm:bulletEnabled val="1"/>
        </dgm:presLayoutVars>
      </dgm:prSet>
      <dgm:spPr/>
    </dgm:pt>
    <dgm:pt modelId="{9DEC8AFE-03F6-4D08-B88C-11AB770F83E5}" type="pres">
      <dgm:prSet presAssocID="{168EEB2F-F9A8-44CC-B0B1-EC01B491725C}" presName="sibTrans" presStyleCnt="0"/>
      <dgm:spPr/>
    </dgm:pt>
    <dgm:pt modelId="{FF0F21E1-AA22-4F6A-87EE-F515173CE586}" type="pres">
      <dgm:prSet presAssocID="{C06A1DE8-3A5F-42E2-83E0-FDFE923FA657}" presName="node" presStyleLbl="node1" presStyleIdx="5" presStyleCnt="9">
        <dgm:presLayoutVars>
          <dgm:bulletEnabled val="1"/>
        </dgm:presLayoutVars>
      </dgm:prSet>
      <dgm:spPr/>
    </dgm:pt>
    <dgm:pt modelId="{CFD545C8-668C-40EB-A3D8-1464518F35F4}" type="pres">
      <dgm:prSet presAssocID="{7F1B9E77-23D1-4194-AE3D-3DC29E89AB38}" presName="sibTrans" presStyleCnt="0"/>
      <dgm:spPr/>
    </dgm:pt>
    <dgm:pt modelId="{72FB94C4-9080-4E4F-B96F-32D4F113DA4B}" type="pres">
      <dgm:prSet presAssocID="{E2ADEFFD-1C76-4DC2-9301-E4A16989CB74}" presName="node" presStyleLbl="node1" presStyleIdx="6" presStyleCnt="9">
        <dgm:presLayoutVars>
          <dgm:bulletEnabled val="1"/>
        </dgm:presLayoutVars>
      </dgm:prSet>
      <dgm:spPr/>
    </dgm:pt>
    <dgm:pt modelId="{6D33DCC4-227D-4C4F-8063-130521167535}" type="pres">
      <dgm:prSet presAssocID="{8092FD46-D3C0-4E42-AE7A-8D33D92D818A}" presName="sibTrans" presStyleCnt="0"/>
      <dgm:spPr/>
    </dgm:pt>
    <dgm:pt modelId="{F48DDAA5-87AA-40D1-B515-DA7B2EB0BA77}" type="pres">
      <dgm:prSet presAssocID="{53923797-3E58-491F-8C67-50B1B710BA76}" presName="node" presStyleLbl="node1" presStyleIdx="7" presStyleCnt="9">
        <dgm:presLayoutVars>
          <dgm:bulletEnabled val="1"/>
        </dgm:presLayoutVars>
      </dgm:prSet>
      <dgm:spPr/>
    </dgm:pt>
    <dgm:pt modelId="{22FA83F0-D17A-4208-809A-110794E584EF}" type="pres">
      <dgm:prSet presAssocID="{5B285588-694B-4B23-AE03-9CDEF8C00910}" presName="sibTrans" presStyleCnt="0"/>
      <dgm:spPr/>
    </dgm:pt>
    <dgm:pt modelId="{53CBEB17-57C2-42E3-9B22-928709EE753D}" type="pres">
      <dgm:prSet presAssocID="{27404FC3-2EE8-47C9-8E50-3B94B1DA2C35}" presName="node" presStyleLbl="node1" presStyleIdx="8" presStyleCnt="9">
        <dgm:presLayoutVars>
          <dgm:bulletEnabled val="1"/>
        </dgm:presLayoutVars>
      </dgm:prSet>
      <dgm:spPr/>
    </dgm:pt>
  </dgm:ptLst>
  <dgm:cxnLst>
    <dgm:cxn modelId="{627D3B01-9403-4DC9-840F-360D3CCC2222}" srcId="{1D224CAD-BB2F-4FB0-888C-EF3837B69121}" destId="{C616D231-FBB7-460A-9E9D-2C134BA978AA}" srcOrd="4" destOrd="0" parTransId="{C57B14AA-22EE-4FF2-9D9F-2BA49CFB5CE0}" sibTransId="{168EEB2F-F9A8-44CC-B0B1-EC01B491725C}"/>
    <dgm:cxn modelId="{6848C901-DD6A-4EB0-8856-1720B2225191}" type="presOf" srcId="{1D224CAD-BB2F-4FB0-888C-EF3837B69121}" destId="{06F0E273-E819-47A3-BE41-F62298194FFB}" srcOrd="0" destOrd="0" presId="urn:microsoft.com/office/officeart/2005/8/layout/default"/>
    <dgm:cxn modelId="{53C74A07-8710-4DF3-9C7A-8C5D4EA0C0A8}" type="presOf" srcId="{27404FC3-2EE8-47C9-8E50-3B94B1DA2C35}" destId="{53CBEB17-57C2-42E3-9B22-928709EE753D}" srcOrd="0" destOrd="0" presId="urn:microsoft.com/office/officeart/2005/8/layout/default"/>
    <dgm:cxn modelId="{CF8EF90C-127C-4665-82F3-EC090656CC38}" type="presOf" srcId="{53923797-3E58-491F-8C67-50B1B710BA76}" destId="{F48DDAA5-87AA-40D1-B515-DA7B2EB0BA77}" srcOrd="0" destOrd="0" presId="urn:microsoft.com/office/officeart/2005/8/layout/default"/>
    <dgm:cxn modelId="{068D962A-3BFC-4056-A69D-8B4C95420B36}" srcId="{1D224CAD-BB2F-4FB0-888C-EF3837B69121}" destId="{E2ADEFFD-1C76-4DC2-9301-E4A16989CB74}" srcOrd="6" destOrd="0" parTransId="{8DC7249F-D8AF-4C8E-A8A8-AFC6997ED179}" sibTransId="{8092FD46-D3C0-4E42-AE7A-8D33D92D818A}"/>
    <dgm:cxn modelId="{1EAAC236-6EAF-4159-9D61-D5A6423D6435}" type="presOf" srcId="{5A400329-D2D4-40F6-9A94-2FEC0AF480F0}" destId="{572755D3-A709-4B96-93BF-116DF1F2AA35}" srcOrd="0" destOrd="0" presId="urn:microsoft.com/office/officeart/2005/8/layout/default"/>
    <dgm:cxn modelId="{BECBE237-D36A-4EB5-B688-3B2E15BECD11}" type="presOf" srcId="{D5D564F7-A166-40C9-B309-DFF284B54221}" destId="{F4D663E2-0872-49A4-BE83-1ACF2A43307C}" srcOrd="0" destOrd="0" presId="urn:microsoft.com/office/officeart/2005/8/layout/default"/>
    <dgm:cxn modelId="{9DBF263E-63B3-4941-B5BE-DA163FDA7894}" srcId="{1D224CAD-BB2F-4FB0-888C-EF3837B69121}" destId="{27404FC3-2EE8-47C9-8E50-3B94B1DA2C35}" srcOrd="8" destOrd="0" parTransId="{A4A652EA-6316-4701-90AE-1DB56BD0681D}" sibTransId="{853B6660-3A2C-4110-A3F5-1B89622B2599}"/>
    <dgm:cxn modelId="{2DFB865C-E935-43AA-8180-9B0870915AA2}" type="presOf" srcId="{622F2B7B-368D-4FB3-887F-ABFD479320DA}" destId="{8F029FCF-5591-4313-BC9B-27213A58D636}" srcOrd="0" destOrd="0" presId="urn:microsoft.com/office/officeart/2005/8/layout/default"/>
    <dgm:cxn modelId="{7A72336C-A382-44FB-9999-46DF1F99F9F8}" type="presOf" srcId="{C06A1DE8-3A5F-42E2-83E0-FDFE923FA657}" destId="{FF0F21E1-AA22-4F6A-87EE-F515173CE586}" srcOrd="0" destOrd="0" presId="urn:microsoft.com/office/officeart/2005/8/layout/default"/>
    <dgm:cxn modelId="{1177C858-59D5-48CC-BC68-B98BC1A0DDCF}" srcId="{1D224CAD-BB2F-4FB0-888C-EF3837B69121}" destId="{D5D564F7-A166-40C9-B309-DFF284B54221}" srcOrd="0" destOrd="0" parTransId="{C0C71024-5D7C-43C1-9215-0ED680322673}" sibTransId="{9D408CFF-61C6-4DF1-96F8-42C2FD90636E}"/>
    <dgm:cxn modelId="{6CB3938A-9F3E-4115-9EF5-93796BA9BF56}" srcId="{1D224CAD-BB2F-4FB0-888C-EF3837B69121}" destId="{622F2B7B-368D-4FB3-887F-ABFD479320DA}" srcOrd="3" destOrd="0" parTransId="{560F70D1-6DFD-4448-B341-521CB9994665}" sibTransId="{3B2F16C0-384D-476E-AB75-0B81A5F737D8}"/>
    <dgm:cxn modelId="{A507099F-34F2-48B4-A225-77DF6B1C8488}" type="presOf" srcId="{D1D2838C-FCA8-4A49-82FA-AC753FE1D81D}" destId="{79E3AD5F-0523-4F14-83E4-B9F1C913FCDE}" srcOrd="0" destOrd="0" presId="urn:microsoft.com/office/officeart/2005/8/layout/default"/>
    <dgm:cxn modelId="{883AF6A2-8708-439F-A4B0-6A3FE41FD4E4}" srcId="{1D224CAD-BB2F-4FB0-888C-EF3837B69121}" destId="{D1D2838C-FCA8-4A49-82FA-AC753FE1D81D}" srcOrd="1" destOrd="0" parTransId="{0B1B9AF0-67F4-42BD-8D41-ADCBAF404401}" sibTransId="{85A15415-4378-405F-8ADB-75DE928B0C96}"/>
    <dgm:cxn modelId="{7B6748D8-08CC-4B65-9FC9-B18B9B28277E}" type="presOf" srcId="{E2ADEFFD-1C76-4DC2-9301-E4A16989CB74}" destId="{72FB94C4-9080-4E4F-B96F-32D4F113DA4B}" srcOrd="0" destOrd="0" presId="urn:microsoft.com/office/officeart/2005/8/layout/default"/>
    <dgm:cxn modelId="{044F1DDF-F807-4E87-83CF-3701532E83E3}" type="presOf" srcId="{C616D231-FBB7-460A-9E9D-2C134BA978AA}" destId="{AD8723E2-1FCC-4C45-8AA2-C519217DE8A9}" srcOrd="0" destOrd="0" presId="urn:microsoft.com/office/officeart/2005/8/layout/default"/>
    <dgm:cxn modelId="{59987DE5-0E0F-49B6-B148-0E9A3280607F}" srcId="{1D224CAD-BB2F-4FB0-888C-EF3837B69121}" destId="{53923797-3E58-491F-8C67-50B1B710BA76}" srcOrd="7" destOrd="0" parTransId="{39A0F379-B17D-429E-BBBC-7409D27A1745}" sibTransId="{5B285588-694B-4B23-AE03-9CDEF8C00910}"/>
    <dgm:cxn modelId="{702CEFE7-7762-407E-900E-DD082DAA0A84}" srcId="{1D224CAD-BB2F-4FB0-888C-EF3837B69121}" destId="{C06A1DE8-3A5F-42E2-83E0-FDFE923FA657}" srcOrd="5" destOrd="0" parTransId="{47B692CA-A57B-4AB1-8CB0-553862C98BA8}" sibTransId="{7F1B9E77-23D1-4194-AE3D-3DC29E89AB38}"/>
    <dgm:cxn modelId="{0FA6D0F3-5C85-468B-9F0C-63D627BEC6C0}" srcId="{1D224CAD-BB2F-4FB0-888C-EF3837B69121}" destId="{5A400329-D2D4-40F6-9A94-2FEC0AF480F0}" srcOrd="2" destOrd="0" parTransId="{CDEB600E-625E-49B2-8AF8-53E2BB47B1A5}" sibTransId="{D08C6F6A-146E-48F0-B203-5B2C703F9983}"/>
    <dgm:cxn modelId="{9EB5D10D-B2DE-4927-8C01-F57E577EF51A}" type="presParOf" srcId="{06F0E273-E819-47A3-BE41-F62298194FFB}" destId="{F4D663E2-0872-49A4-BE83-1ACF2A43307C}" srcOrd="0" destOrd="0" presId="urn:microsoft.com/office/officeart/2005/8/layout/default"/>
    <dgm:cxn modelId="{C6CB0816-8A2E-4214-BE38-396523386A42}" type="presParOf" srcId="{06F0E273-E819-47A3-BE41-F62298194FFB}" destId="{00E14A62-6F16-4C01-918B-26C0A19897FB}" srcOrd="1" destOrd="0" presId="urn:microsoft.com/office/officeart/2005/8/layout/default"/>
    <dgm:cxn modelId="{FF242471-F743-4735-811B-E835595B20B8}" type="presParOf" srcId="{06F0E273-E819-47A3-BE41-F62298194FFB}" destId="{79E3AD5F-0523-4F14-83E4-B9F1C913FCDE}" srcOrd="2" destOrd="0" presId="urn:microsoft.com/office/officeart/2005/8/layout/default"/>
    <dgm:cxn modelId="{E2FE661C-CE19-488A-B74A-2D8440B592AF}" type="presParOf" srcId="{06F0E273-E819-47A3-BE41-F62298194FFB}" destId="{1123CE97-31C4-4BAE-AF84-6324521A4015}" srcOrd="3" destOrd="0" presId="urn:microsoft.com/office/officeart/2005/8/layout/default"/>
    <dgm:cxn modelId="{3DDF0E9E-13E9-40FE-BC08-EB5683F1C685}" type="presParOf" srcId="{06F0E273-E819-47A3-BE41-F62298194FFB}" destId="{572755D3-A709-4B96-93BF-116DF1F2AA35}" srcOrd="4" destOrd="0" presId="urn:microsoft.com/office/officeart/2005/8/layout/default"/>
    <dgm:cxn modelId="{9ED1903F-682D-47F1-9E48-8A3D192CA0E3}" type="presParOf" srcId="{06F0E273-E819-47A3-BE41-F62298194FFB}" destId="{34EF017F-666D-4BBA-92C5-75A11D65730C}" srcOrd="5" destOrd="0" presId="urn:microsoft.com/office/officeart/2005/8/layout/default"/>
    <dgm:cxn modelId="{D6FD3D9F-7BEA-47F6-8E29-7C24CA300AC0}" type="presParOf" srcId="{06F0E273-E819-47A3-BE41-F62298194FFB}" destId="{8F029FCF-5591-4313-BC9B-27213A58D636}" srcOrd="6" destOrd="0" presId="urn:microsoft.com/office/officeart/2005/8/layout/default"/>
    <dgm:cxn modelId="{5A19D4A8-C1AD-45C3-A454-B704825FD8AD}" type="presParOf" srcId="{06F0E273-E819-47A3-BE41-F62298194FFB}" destId="{B5694CCE-CD59-47A6-A1FB-9861FF45F45D}" srcOrd="7" destOrd="0" presId="urn:microsoft.com/office/officeart/2005/8/layout/default"/>
    <dgm:cxn modelId="{EB20F377-7998-45A6-8534-27B459312397}" type="presParOf" srcId="{06F0E273-E819-47A3-BE41-F62298194FFB}" destId="{AD8723E2-1FCC-4C45-8AA2-C519217DE8A9}" srcOrd="8" destOrd="0" presId="urn:microsoft.com/office/officeart/2005/8/layout/default"/>
    <dgm:cxn modelId="{85B1D789-ACBB-4949-8BDB-A0AA37313166}" type="presParOf" srcId="{06F0E273-E819-47A3-BE41-F62298194FFB}" destId="{9DEC8AFE-03F6-4D08-B88C-11AB770F83E5}" srcOrd="9" destOrd="0" presId="urn:microsoft.com/office/officeart/2005/8/layout/default"/>
    <dgm:cxn modelId="{AB15C729-C2FB-4BC9-9B95-880D38D6DCCD}" type="presParOf" srcId="{06F0E273-E819-47A3-BE41-F62298194FFB}" destId="{FF0F21E1-AA22-4F6A-87EE-F515173CE586}" srcOrd="10" destOrd="0" presId="urn:microsoft.com/office/officeart/2005/8/layout/default"/>
    <dgm:cxn modelId="{06E2D19F-0817-40E0-9D0E-7C89C32FF097}" type="presParOf" srcId="{06F0E273-E819-47A3-BE41-F62298194FFB}" destId="{CFD545C8-668C-40EB-A3D8-1464518F35F4}" srcOrd="11" destOrd="0" presId="urn:microsoft.com/office/officeart/2005/8/layout/default"/>
    <dgm:cxn modelId="{2CC02EBF-3D7B-4CB2-ABD8-D0364114AB98}" type="presParOf" srcId="{06F0E273-E819-47A3-BE41-F62298194FFB}" destId="{72FB94C4-9080-4E4F-B96F-32D4F113DA4B}" srcOrd="12" destOrd="0" presId="urn:microsoft.com/office/officeart/2005/8/layout/default"/>
    <dgm:cxn modelId="{E01DC8AF-A3E2-49B4-A77F-0C820257BD93}" type="presParOf" srcId="{06F0E273-E819-47A3-BE41-F62298194FFB}" destId="{6D33DCC4-227D-4C4F-8063-130521167535}" srcOrd="13" destOrd="0" presId="urn:microsoft.com/office/officeart/2005/8/layout/default"/>
    <dgm:cxn modelId="{7620933A-6529-4102-BB4E-0D2DE4557230}" type="presParOf" srcId="{06F0E273-E819-47A3-BE41-F62298194FFB}" destId="{F48DDAA5-87AA-40D1-B515-DA7B2EB0BA77}" srcOrd="14" destOrd="0" presId="urn:microsoft.com/office/officeart/2005/8/layout/default"/>
    <dgm:cxn modelId="{B48324A7-153A-43CB-90C9-71D2E247A4C7}" type="presParOf" srcId="{06F0E273-E819-47A3-BE41-F62298194FFB}" destId="{22FA83F0-D17A-4208-809A-110794E584EF}" srcOrd="15" destOrd="0" presId="urn:microsoft.com/office/officeart/2005/8/layout/default"/>
    <dgm:cxn modelId="{C56C23CB-96F0-4092-B061-4C2E722D47FE}" type="presParOf" srcId="{06F0E273-E819-47A3-BE41-F62298194FFB}" destId="{53CBEB17-57C2-42E3-9B22-928709EE753D}" srcOrd="1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F7305A3-81F7-40D2-8E7D-E4EBA78796E6}"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D699055C-8CD5-48E4-8A52-A2BECFE58E67}">
      <dgm:prSet/>
      <dgm:spPr/>
      <dgm:t>
        <a:bodyPr/>
        <a:lstStyle/>
        <a:p>
          <a:r>
            <a:rPr lang="en-US"/>
            <a:t>Avoid Interaction: Do not click links, open attachments, or reply.</a:t>
          </a:r>
        </a:p>
      </dgm:t>
    </dgm:pt>
    <dgm:pt modelId="{74BEF2B3-8092-4B15-9FED-149B33E1783B}" type="parTrans" cxnId="{956F6E0D-4DE5-437D-90D8-343077C89AB0}">
      <dgm:prSet/>
      <dgm:spPr/>
      <dgm:t>
        <a:bodyPr/>
        <a:lstStyle/>
        <a:p>
          <a:endParaRPr lang="en-US"/>
        </a:p>
      </dgm:t>
    </dgm:pt>
    <dgm:pt modelId="{D1523548-CF01-490C-8FC9-BDF350500031}" type="sibTrans" cxnId="{956F6E0D-4DE5-437D-90D8-343077C89AB0}">
      <dgm:prSet/>
      <dgm:spPr/>
      <dgm:t>
        <a:bodyPr/>
        <a:lstStyle/>
        <a:p>
          <a:endParaRPr lang="en-US"/>
        </a:p>
      </dgm:t>
    </dgm:pt>
    <dgm:pt modelId="{BDF558B6-B9CA-4D2B-9C8D-F44127ADA140}">
      <dgm:prSet/>
      <dgm:spPr/>
      <dgm:t>
        <a:bodyPr/>
        <a:lstStyle/>
        <a:p>
          <a:r>
            <a:rPr lang="en-US"/>
            <a:t>Report the Email: Use the built-in 'Report Phishing' or 'Report Junk' features in Outlook.</a:t>
          </a:r>
        </a:p>
      </dgm:t>
    </dgm:pt>
    <dgm:pt modelId="{4E786FBF-A235-4295-A593-449AA943366A}" type="parTrans" cxnId="{15EF0840-D533-4292-A558-8ECB8C177C5D}">
      <dgm:prSet/>
      <dgm:spPr/>
      <dgm:t>
        <a:bodyPr/>
        <a:lstStyle/>
        <a:p>
          <a:endParaRPr lang="en-US"/>
        </a:p>
      </dgm:t>
    </dgm:pt>
    <dgm:pt modelId="{7A334BBF-1E01-4593-B410-DD1D30CE3FB0}" type="sibTrans" cxnId="{15EF0840-D533-4292-A558-8ECB8C177C5D}">
      <dgm:prSet/>
      <dgm:spPr/>
      <dgm:t>
        <a:bodyPr/>
        <a:lstStyle/>
        <a:p>
          <a:endParaRPr lang="en-US"/>
        </a:p>
      </dgm:t>
    </dgm:pt>
    <dgm:pt modelId="{0BE1C7D8-3B9E-436A-95E4-3C7503F31CAD}" type="pres">
      <dgm:prSet presAssocID="{EF7305A3-81F7-40D2-8E7D-E4EBA78796E6}" presName="root" presStyleCnt="0">
        <dgm:presLayoutVars>
          <dgm:dir/>
          <dgm:resizeHandles val="exact"/>
        </dgm:presLayoutVars>
      </dgm:prSet>
      <dgm:spPr/>
    </dgm:pt>
    <dgm:pt modelId="{EC963038-4C84-40B8-9CFC-A1B74DD11FB2}" type="pres">
      <dgm:prSet presAssocID="{D699055C-8CD5-48E4-8A52-A2BECFE58E67}" presName="compNode" presStyleCnt="0"/>
      <dgm:spPr/>
    </dgm:pt>
    <dgm:pt modelId="{1EF64CBC-886F-411D-9ADA-A5AEB5F2C7CA}" type="pres">
      <dgm:prSet presAssocID="{D699055C-8CD5-48E4-8A52-A2BECFE58E6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No sign with solid fill"/>
        </a:ext>
      </dgm:extLst>
    </dgm:pt>
    <dgm:pt modelId="{52C2812F-E829-4B73-A298-79CB4B14A01B}" type="pres">
      <dgm:prSet presAssocID="{D699055C-8CD5-48E4-8A52-A2BECFE58E67}" presName="spaceRect" presStyleCnt="0"/>
      <dgm:spPr/>
    </dgm:pt>
    <dgm:pt modelId="{5898EBF7-F5E7-44A9-A43D-9B3C104B136B}" type="pres">
      <dgm:prSet presAssocID="{D699055C-8CD5-48E4-8A52-A2BECFE58E67}" presName="textRect" presStyleLbl="revTx" presStyleIdx="0" presStyleCnt="2">
        <dgm:presLayoutVars>
          <dgm:chMax val="1"/>
          <dgm:chPref val="1"/>
        </dgm:presLayoutVars>
      </dgm:prSet>
      <dgm:spPr/>
    </dgm:pt>
    <dgm:pt modelId="{A0B40013-ABEE-4A8E-A5FA-ACA3576DFC6B}" type="pres">
      <dgm:prSet presAssocID="{D1523548-CF01-490C-8FC9-BDF350500031}" presName="sibTrans" presStyleCnt="0"/>
      <dgm:spPr/>
    </dgm:pt>
    <dgm:pt modelId="{24FDA0C7-8F26-4AB9-B259-7CCFA756201B}" type="pres">
      <dgm:prSet presAssocID="{BDF558B6-B9CA-4D2B-9C8D-F44127ADA140}" presName="compNode" presStyleCnt="0"/>
      <dgm:spPr/>
    </dgm:pt>
    <dgm:pt modelId="{8624A999-EA31-408C-8D57-6A188C920422}" type="pres">
      <dgm:prSet presAssocID="{BDF558B6-B9CA-4D2B-9C8D-F44127ADA14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BE43EAA2-3E59-4919-B167-9F267D699984}" type="pres">
      <dgm:prSet presAssocID="{BDF558B6-B9CA-4D2B-9C8D-F44127ADA140}" presName="spaceRect" presStyleCnt="0"/>
      <dgm:spPr/>
    </dgm:pt>
    <dgm:pt modelId="{89E4787F-F5E9-4F4C-A650-F5FAA84505FD}" type="pres">
      <dgm:prSet presAssocID="{BDF558B6-B9CA-4D2B-9C8D-F44127ADA140}" presName="textRect" presStyleLbl="revTx" presStyleIdx="1" presStyleCnt="2">
        <dgm:presLayoutVars>
          <dgm:chMax val="1"/>
          <dgm:chPref val="1"/>
        </dgm:presLayoutVars>
      </dgm:prSet>
      <dgm:spPr/>
    </dgm:pt>
  </dgm:ptLst>
  <dgm:cxnLst>
    <dgm:cxn modelId="{956F6E0D-4DE5-437D-90D8-343077C89AB0}" srcId="{EF7305A3-81F7-40D2-8E7D-E4EBA78796E6}" destId="{D699055C-8CD5-48E4-8A52-A2BECFE58E67}" srcOrd="0" destOrd="0" parTransId="{74BEF2B3-8092-4B15-9FED-149B33E1783B}" sibTransId="{D1523548-CF01-490C-8FC9-BDF350500031}"/>
    <dgm:cxn modelId="{36126A17-7A8E-4CAD-BB77-4E8A12561982}" type="presOf" srcId="{BDF558B6-B9CA-4D2B-9C8D-F44127ADA140}" destId="{89E4787F-F5E9-4F4C-A650-F5FAA84505FD}" srcOrd="0" destOrd="0" presId="urn:microsoft.com/office/officeart/2018/2/layout/IconLabelList"/>
    <dgm:cxn modelId="{331CF81F-FC2F-43BF-9488-E262588E03CC}" type="presOf" srcId="{D699055C-8CD5-48E4-8A52-A2BECFE58E67}" destId="{5898EBF7-F5E7-44A9-A43D-9B3C104B136B}" srcOrd="0" destOrd="0" presId="urn:microsoft.com/office/officeart/2018/2/layout/IconLabelList"/>
    <dgm:cxn modelId="{15EF0840-D533-4292-A558-8ECB8C177C5D}" srcId="{EF7305A3-81F7-40D2-8E7D-E4EBA78796E6}" destId="{BDF558B6-B9CA-4D2B-9C8D-F44127ADA140}" srcOrd="1" destOrd="0" parTransId="{4E786FBF-A235-4295-A593-449AA943366A}" sibTransId="{7A334BBF-1E01-4593-B410-DD1D30CE3FB0}"/>
    <dgm:cxn modelId="{88F76495-1DAF-4817-9D59-36FA8CC8E72F}" type="presOf" srcId="{EF7305A3-81F7-40D2-8E7D-E4EBA78796E6}" destId="{0BE1C7D8-3B9E-436A-95E4-3C7503F31CAD}" srcOrd="0" destOrd="0" presId="urn:microsoft.com/office/officeart/2018/2/layout/IconLabelList"/>
    <dgm:cxn modelId="{1C762C62-E923-4808-897C-5D6D082559D5}" type="presParOf" srcId="{0BE1C7D8-3B9E-436A-95E4-3C7503F31CAD}" destId="{EC963038-4C84-40B8-9CFC-A1B74DD11FB2}" srcOrd="0" destOrd="0" presId="urn:microsoft.com/office/officeart/2018/2/layout/IconLabelList"/>
    <dgm:cxn modelId="{780FA1A0-35E8-4FE8-AE5A-6C5AA38F1BE3}" type="presParOf" srcId="{EC963038-4C84-40B8-9CFC-A1B74DD11FB2}" destId="{1EF64CBC-886F-411D-9ADA-A5AEB5F2C7CA}" srcOrd="0" destOrd="0" presId="urn:microsoft.com/office/officeart/2018/2/layout/IconLabelList"/>
    <dgm:cxn modelId="{F02E61CE-5BB6-43B4-BAD8-0CCA2C376F34}" type="presParOf" srcId="{EC963038-4C84-40B8-9CFC-A1B74DD11FB2}" destId="{52C2812F-E829-4B73-A298-79CB4B14A01B}" srcOrd="1" destOrd="0" presId="urn:microsoft.com/office/officeart/2018/2/layout/IconLabelList"/>
    <dgm:cxn modelId="{3793A771-2CF7-4E1C-BA04-128284C0E887}" type="presParOf" srcId="{EC963038-4C84-40B8-9CFC-A1B74DD11FB2}" destId="{5898EBF7-F5E7-44A9-A43D-9B3C104B136B}" srcOrd="2" destOrd="0" presId="urn:microsoft.com/office/officeart/2018/2/layout/IconLabelList"/>
    <dgm:cxn modelId="{F899BC8B-B164-493B-8F54-348305033CF5}" type="presParOf" srcId="{0BE1C7D8-3B9E-436A-95E4-3C7503F31CAD}" destId="{A0B40013-ABEE-4A8E-A5FA-ACA3576DFC6B}" srcOrd="1" destOrd="0" presId="urn:microsoft.com/office/officeart/2018/2/layout/IconLabelList"/>
    <dgm:cxn modelId="{B7AB30EB-ACD2-466B-9D2D-A61741E0764C}" type="presParOf" srcId="{0BE1C7D8-3B9E-436A-95E4-3C7503F31CAD}" destId="{24FDA0C7-8F26-4AB9-B259-7CCFA756201B}" srcOrd="2" destOrd="0" presId="urn:microsoft.com/office/officeart/2018/2/layout/IconLabelList"/>
    <dgm:cxn modelId="{615A4B7A-E040-498B-81A8-4A393814D024}" type="presParOf" srcId="{24FDA0C7-8F26-4AB9-B259-7CCFA756201B}" destId="{8624A999-EA31-408C-8D57-6A188C920422}" srcOrd="0" destOrd="0" presId="urn:microsoft.com/office/officeart/2018/2/layout/IconLabelList"/>
    <dgm:cxn modelId="{2BB3F760-A026-4B5B-B96F-33326E5D068C}" type="presParOf" srcId="{24FDA0C7-8F26-4AB9-B259-7CCFA756201B}" destId="{BE43EAA2-3E59-4919-B167-9F267D699984}" srcOrd="1" destOrd="0" presId="urn:microsoft.com/office/officeart/2018/2/layout/IconLabelList"/>
    <dgm:cxn modelId="{50C46D21-3FCF-466A-8C29-FCA3965AB154}" type="presParOf" srcId="{24FDA0C7-8F26-4AB9-B259-7CCFA756201B}" destId="{89E4787F-F5E9-4F4C-A650-F5FAA84505FD}"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F1E7098-6E16-4FB7-B746-BCEF9F7C65C8}" type="doc">
      <dgm:prSet loTypeId="urn:microsoft.com/office/officeart/2016/7/layout/LinearBlockProcessNumbered" loCatId="process" qsTypeId="urn:microsoft.com/office/officeart/2005/8/quickstyle/simple1" qsCatId="simple" csTypeId="urn:microsoft.com/office/officeart/2005/8/colors/colorful2" csCatId="colorful" phldr="1"/>
      <dgm:spPr/>
      <dgm:t>
        <a:bodyPr/>
        <a:lstStyle/>
        <a:p>
          <a:endParaRPr lang="en-US"/>
        </a:p>
      </dgm:t>
    </dgm:pt>
    <dgm:pt modelId="{F25B2A1D-ABC9-4129-A373-454277C66894}">
      <dgm:prSet/>
      <dgm:spPr/>
      <dgm:t>
        <a:bodyPr/>
        <a:lstStyle/>
        <a:p>
          <a:pPr>
            <a:defRPr cap="all"/>
          </a:pPr>
          <a:r>
            <a:rPr lang="en-US" dirty="0"/>
            <a:t>Header Analysis: Verify sender identity, return-path, and received domains</a:t>
          </a:r>
          <a:r>
            <a:rPr lang="en-GB" dirty="0"/>
            <a:t> </a:t>
          </a:r>
          <a:r>
            <a:rPr lang="en-US" dirty="0"/>
            <a:t>for spoofing or other anomalies</a:t>
          </a:r>
        </a:p>
      </dgm:t>
    </dgm:pt>
    <dgm:pt modelId="{605F6BC9-D6B8-4979-99A7-58CC23A3BB3D}" type="parTrans" cxnId="{6A2478F0-A110-4C68-BCDC-13F532539024}">
      <dgm:prSet/>
      <dgm:spPr/>
      <dgm:t>
        <a:bodyPr/>
        <a:lstStyle/>
        <a:p>
          <a:endParaRPr lang="en-US"/>
        </a:p>
      </dgm:t>
    </dgm:pt>
    <dgm:pt modelId="{6287F304-5E2A-4414-AA78-C87C08F33AE6}" type="sibTrans" cxnId="{6A2478F0-A110-4C68-BCDC-13F532539024}">
      <dgm:prSet phldrT="01"/>
      <dgm:spPr/>
      <dgm:t>
        <a:bodyPr/>
        <a:lstStyle/>
        <a:p>
          <a:r>
            <a:rPr lang="en-US"/>
            <a:t>01</a:t>
          </a:r>
        </a:p>
      </dgm:t>
    </dgm:pt>
    <dgm:pt modelId="{89F8C95B-A9FF-4E81-895F-6DDC74C17CBA}">
      <dgm:prSet/>
      <dgm:spPr/>
      <dgm:t>
        <a:bodyPr/>
        <a:lstStyle/>
        <a:p>
          <a:pPr>
            <a:defRPr cap="all"/>
          </a:pPr>
          <a:r>
            <a:rPr lang="en-US"/>
            <a:t>Body Analysis: check if it contains malicious links or attachments.</a:t>
          </a:r>
        </a:p>
      </dgm:t>
    </dgm:pt>
    <dgm:pt modelId="{724AB696-C58F-48E5-92EF-E16576E4F9BF}" type="parTrans" cxnId="{AE48DF20-3785-4548-B4D0-C4827144DB5E}">
      <dgm:prSet/>
      <dgm:spPr/>
      <dgm:t>
        <a:bodyPr/>
        <a:lstStyle/>
        <a:p>
          <a:endParaRPr lang="en-US"/>
        </a:p>
      </dgm:t>
    </dgm:pt>
    <dgm:pt modelId="{56F97A81-5EBE-4DFB-A3D9-970FE81B1A43}" type="sibTrans" cxnId="{AE48DF20-3785-4548-B4D0-C4827144DB5E}">
      <dgm:prSet phldrT="02"/>
      <dgm:spPr/>
      <dgm:t>
        <a:bodyPr/>
        <a:lstStyle/>
        <a:p>
          <a:r>
            <a:rPr lang="en-US"/>
            <a:t>02</a:t>
          </a:r>
        </a:p>
      </dgm:t>
    </dgm:pt>
    <dgm:pt modelId="{FD301687-FB37-4E13-84BA-EA4A928BCFF3}">
      <dgm:prSet/>
      <dgm:spPr/>
      <dgm:t>
        <a:bodyPr/>
        <a:lstStyle/>
        <a:p>
          <a:pPr>
            <a:defRPr cap="all"/>
          </a:pPr>
          <a:r>
            <a:rPr lang="en-US" dirty="0"/>
            <a:t>verify the legitimacy of the email by checking for any discrepancies in SPF, DKIM, or DMARC authentication.</a:t>
          </a:r>
        </a:p>
      </dgm:t>
    </dgm:pt>
    <dgm:pt modelId="{2DE7EF15-F6A9-405A-86CF-F402842BC812}" type="parTrans" cxnId="{6BB32D2B-D2A3-4329-A566-6F21D2894E8B}">
      <dgm:prSet/>
      <dgm:spPr/>
      <dgm:t>
        <a:bodyPr/>
        <a:lstStyle/>
        <a:p>
          <a:endParaRPr lang="en-US"/>
        </a:p>
      </dgm:t>
    </dgm:pt>
    <dgm:pt modelId="{AB00BCE4-097D-4216-8D09-0957DE3AE41E}" type="sibTrans" cxnId="{6BB32D2B-D2A3-4329-A566-6F21D2894E8B}">
      <dgm:prSet phldrT="03"/>
      <dgm:spPr/>
      <dgm:t>
        <a:bodyPr/>
        <a:lstStyle/>
        <a:p>
          <a:r>
            <a:rPr lang="en-US"/>
            <a:t>03</a:t>
          </a:r>
        </a:p>
      </dgm:t>
    </dgm:pt>
    <dgm:pt modelId="{EEC64F12-FB4E-40BB-A5BA-83628ED413A2}">
      <dgm:prSet/>
      <dgm:spPr/>
      <dgm:t>
        <a:bodyPr/>
        <a:lstStyle/>
        <a:p>
          <a:pPr>
            <a:defRPr cap="all"/>
          </a:pPr>
          <a:r>
            <a:rPr lang="en-US"/>
            <a:t>Review the detailed threat detection logs, which show whether any anti-phishing, anti-malware, or safe links policies were triggered.</a:t>
          </a:r>
        </a:p>
      </dgm:t>
    </dgm:pt>
    <dgm:pt modelId="{1156BC74-347C-4D94-938E-51B9B04A6B78}" type="parTrans" cxnId="{0FB634F3-4CF3-4D69-A648-82178FD76459}">
      <dgm:prSet/>
      <dgm:spPr/>
      <dgm:t>
        <a:bodyPr/>
        <a:lstStyle/>
        <a:p>
          <a:endParaRPr lang="en-US"/>
        </a:p>
      </dgm:t>
    </dgm:pt>
    <dgm:pt modelId="{4979F7B5-BE20-424A-A85D-126F1A1FC753}" type="sibTrans" cxnId="{0FB634F3-4CF3-4D69-A648-82178FD76459}">
      <dgm:prSet phldrT="04"/>
      <dgm:spPr/>
      <dgm:t>
        <a:bodyPr/>
        <a:lstStyle/>
        <a:p>
          <a:r>
            <a:rPr lang="en-US"/>
            <a:t>04</a:t>
          </a:r>
        </a:p>
      </dgm:t>
    </dgm:pt>
    <dgm:pt modelId="{F8926FEF-E5BA-4243-A6E2-C494B9CAD221}" type="pres">
      <dgm:prSet presAssocID="{BF1E7098-6E16-4FB7-B746-BCEF9F7C65C8}" presName="Name0" presStyleCnt="0">
        <dgm:presLayoutVars>
          <dgm:animLvl val="lvl"/>
          <dgm:resizeHandles val="exact"/>
        </dgm:presLayoutVars>
      </dgm:prSet>
      <dgm:spPr/>
    </dgm:pt>
    <dgm:pt modelId="{84F3A015-7387-49A9-8DA4-FC1049215502}" type="pres">
      <dgm:prSet presAssocID="{F25B2A1D-ABC9-4129-A373-454277C66894}" presName="compositeNode" presStyleCnt="0">
        <dgm:presLayoutVars>
          <dgm:bulletEnabled val="1"/>
        </dgm:presLayoutVars>
      </dgm:prSet>
      <dgm:spPr/>
    </dgm:pt>
    <dgm:pt modelId="{CB25B3B8-1650-454F-A41D-C1144FB50074}" type="pres">
      <dgm:prSet presAssocID="{F25B2A1D-ABC9-4129-A373-454277C66894}" presName="bgRect" presStyleLbl="alignNode1" presStyleIdx="0" presStyleCnt="4"/>
      <dgm:spPr/>
    </dgm:pt>
    <dgm:pt modelId="{FBD48158-3630-4B3B-9C19-CE77255E9E21}" type="pres">
      <dgm:prSet presAssocID="{6287F304-5E2A-4414-AA78-C87C08F33AE6}" presName="sibTransNodeRect" presStyleLbl="alignNode1" presStyleIdx="0" presStyleCnt="4">
        <dgm:presLayoutVars>
          <dgm:chMax val="0"/>
          <dgm:bulletEnabled val="1"/>
        </dgm:presLayoutVars>
      </dgm:prSet>
      <dgm:spPr/>
    </dgm:pt>
    <dgm:pt modelId="{202605D3-EA27-4C82-8332-CC942ACF8E2F}" type="pres">
      <dgm:prSet presAssocID="{F25B2A1D-ABC9-4129-A373-454277C66894}" presName="nodeRect" presStyleLbl="alignNode1" presStyleIdx="0" presStyleCnt="4">
        <dgm:presLayoutVars>
          <dgm:bulletEnabled val="1"/>
        </dgm:presLayoutVars>
      </dgm:prSet>
      <dgm:spPr/>
    </dgm:pt>
    <dgm:pt modelId="{73C8C105-21EB-46D9-922D-49F4DAC57FEE}" type="pres">
      <dgm:prSet presAssocID="{6287F304-5E2A-4414-AA78-C87C08F33AE6}" presName="sibTrans" presStyleCnt="0"/>
      <dgm:spPr/>
    </dgm:pt>
    <dgm:pt modelId="{072E412C-6966-47F7-A628-430485CB5A4A}" type="pres">
      <dgm:prSet presAssocID="{89F8C95B-A9FF-4E81-895F-6DDC74C17CBA}" presName="compositeNode" presStyleCnt="0">
        <dgm:presLayoutVars>
          <dgm:bulletEnabled val="1"/>
        </dgm:presLayoutVars>
      </dgm:prSet>
      <dgm:spPr/>
    </dgm:pt>
    <dgm:pt modelId="{0B0DA449-7116-4B4D-9AB5-B79FAFDA23FB}" type="pres">
      <dgm:prSet presAssocID="{89F8C95B-A9FF-4E81-895F-6DDC74C17CBA}" presName="bgRect" presStyleLbl="alignNode1" presStyleIdx="1" presStyleCnt="4"/>
      <dgm:spPr/>
    </dgm:pt>
    <dgm:pt modelId="{2CB8AE20-2D01-4472-814D-4C1D12EDFFF9}" type="pres">
      <dgm:prSet presAssocID="{56F97A81-5EBE-4DFB-A3D9-970FE81B1A43}" presName="sibTransNodeRect" presStyleLbl="alignNode1" presStyleIdx="1" presStyleCnt="4">
        <dgm:presLayoutVars>
          <dgm:chMax val="0"/>
          <dgm:bulletEnabled val="1"/>
        </dgm:presLayoutVars>
      </dgm:prSet>
      <dgm:spPr/>
    </dgm:pt>
    <dgm:pt modelId="{A16B0B02-76AE-4B6A-B61C-C1FE24E5F3A5}" type="pres">
      <dgm:prSet presAssocID="{89F8C95B-A9FF-4E81-895F-6DDC74C17CBA}" presName="nodeRect" presStyleLbl="alignNode1" presStyleIdx="1" presStyleCnt="4">
        <dgm:presLayoutVars>
          <dgm:bulletEnabled val="1"/>
        </dgm:presLayoutVars>
      </dgm:prSet>
      <dgm:spPr/>
    </dgm:pt>
    <dgm:pt modelId="{5FC43113-54CA-41F9-9387-FB82B62EAF2A}" type="pres">
      <dgm:prSet presAssocID="{56F97A81-5EBE-4DFB-A3D9-970FE81B1A43}" presName="sibTrans" presStyleCnt="0"/>
      <dgm:spPr/>
    </dgm:pt>
    <dgm:pt modelId="{1976D27E-E2DC-41B7-996C-943E49E7BAF3}" type="pres">
      <dgm:prSet presAssocID="{FD301687-FB37-4E13-84BA-EA4A928BCFF3}" presName="compositeNode" presStyleCnt="0">
        <dgm:presLayoutVars>
          <dgm:bulletEnabled val="1"/>
        </dgm:presLayoutVars>
      </dgm:prSet>
      <dgm:spPr/>
    </dgm:pt>
    <dgm:pt modelId="{C6F3890D-7F9D-4B71-AE9E-3C03BF73C368}" type="pres">
      <dgm:prSet presAssocID="{FD301687-FB37-4E13-84BA-EA4A928BCFF3}" presName="bgRect" presStyleLbl="alignNode1" presStyleIdx="2" presStyleCnt="4"/>
      <dgm:spPr/>
    </dgm:pt>
    <dgm:pt modelId="{A68C6334-08A9-4599-B027-72988E9AF253}" type="pres">
      <dgm:prSet presAssocID="{AB00BCE4-097D-4216-8D09-0957DE3AE41E}" presName="sibTransNodeRect" presStyleLbl="alignNode1" presStyleIdx="2" presStyleCnt="4">
        <dgm:presLayoutVars>
          <dgm:chMax val="0"/>
          <dgm:bulletEnabled val="1"/>
        </dgm:presLayoutVars>
      </dgm:prSet>
      <dgm:spPr/>
    </dgm:pt>
    <dgm:pt modelId="{83B2821A-F604-43F6-A1C7-3F2485ECF773}" type="pres">
      <dgm:prSet presAssocID="{FD301687-FB37-4E13-84BA-EA4A928BCFF3}" presName="nodeRect" presStyleLbl="alignNode1" presStyleIdx="2" presStyleCnt="4">
        <dgm:presLayoutVars>
          <dgm:bulletEnabled val="1"/>
        </dgm:presLayoutVars>
      </dgm:prSet>
      <dgm:spPr/>
    </dgm:pt>
    <dgm:pt modelId="{64C5DC5D-6182-47FF-96C8-252BE0DCCA50}" type="pres">
      <dgm:prSet presAssocID="{AB00BCE4-097D-4216-8D09-0957DE3AE41E}" presName="sibTrans" presStyleCnt="0"/>
      <dgm:spPr/>
    </dgm:pt>
    <dgm:pt modelId="{0E44001A-ED03-4409-9729-F3B73BD46926}" type="pres">
      <dgm:prSet presAssocID="{EEC64F12-FB4E-40BB-A5BA-83628ED413A2}" presName="compositeNode" presStyleCnt="0">
        <dgm:presLayoutVars>
          <dgm:bulletEnabled val="1"/>
        </dgm:presLayoutVars>
      </dgm:prSet>
      <dgm:spPr/>
    </dgm:pt>
    <dgm:pt modelId="{477A40A2-32EB-465B-A449-037AAFB83470}" type="pres">
      <dgm:prSet presAssocID="{EEC64F12-FB4E-40BB-A5BA-83628ED413A2}" presName="bgRect" presStyleLbl="alignNode1" presStyleIdx="3" presStyleCnt="4"/>
      <dgm:spPr/>
    </dgm:pt>
    <dgm:pt modelId="{FFD802F6-8419-47CE-9354-E0F3B0D6FE57}" type="pres">
      <dgm:prSet presAssocID="{4979F7B5-BE20-424A-A85D-126F1A1FC753}" presName="sibTransNodeRect" presStyleLbl="alignNode1" presStyleIdx="3" presStyleCnt="4">
        <dgm:presLayoutVars>
          <dgm:chMax val="0"/>
          <dgm:bulletEnabled val="1"/>
        </dgm:presLayoutVars>
      </dgm:prSet>
      <dgm:spPr/>
    </dgm:pt>
    <dgm:pt modelId="{BDD7761B-C06F-4FD3-BF08-94927F962B1A}" type="pres">
      <dgm:prSet presAssocID="{EEC64F12-FB4E-40BB-A5BA-83628ED413A2}" presName="nodeRect" presStyleLbl="alignNode1" presStyleIdx="3" presStyleCnt="4">
        <dgm:presLayoutVars>
          <dgm:bulletEnabled val="1"/>
        </dgm:presLayoutVars>
      </dgm:prSet>
      <dgm:spPr/>
    </dgm:pt>
  </dgm:ptLst>
  <dgm:cxnLst>
    <dgm:cxn modelId="{632C821A-F9FE-4ECA-BD08-27ACDF9A5262}" type="presOf" srcId="{4979F7B5-BE20-424A-A85D-126F1A1FC753}" destId="{FFD802F6-8419-47CE-9354-E0F3B0D6FE57}" srcOrd="0" destOrd="0" presId="urn:microsoft.com/office/officeart/2016/7/layout/LinearBlockProcessNumbered"/>
    <dgm:cxn modelId="{AE48DF20-3785-4548-B4D0-C4827144DB5E}" srcId="{BF1E7098-6E16-4FB7-B746-BCEF9F7C65C8}" destId="{89F8C95B-A9FF-4E81-895F-6DDC74C17CBA}" srcOrd="1" destOrd="0" parTransId="{724AB696-C58F-48E5-92EF-E16576E4F9BF}" sibTransId="{56F97A81-5EBE-4DFB-A3D9-970FE81B1A43}"/>
    <dgm:cxn modelId="{78457B24-690D-46C7-B2A0-897E34076107}" type="presOf" srcId="{89F8C95B-A9FF-4E81-895F-6DDC74C17CBA}" destId="{A16B0B02-76AE-4B6A-B61C-C1FE24E5F3A5}" srcOrd="1" destOrd="0" presId="urn:microsoft.com/office/officeart/2016/7/layout/LinearBlockProcessNumbered"/>
    <dgm:cxn modelId="{8D7B3226-B5CB-4CAA-8D59-57DD771B70C7}" type="presOf" srcId="{6287F304-5E2A-4414-AA78-C87C08F33AE6}" destId="{FBD48158-3630-4B3B-9C19-CE77255E9E21}" srcOrd="0" destOrd="0" presId="urn:microsoft.com/office/officeart/2016/7/layout/LinearBlockProcessNumbered"/>
    <dgm:cxn modelId="{6BB32D2B-D2A3-4329-A566-6F21D2894E8B}" srcId="{BF1E7098-6E16-4FB7-B746-BCEF9F7C65C8}" destId="{FD301687-FB37-4E13-84BA-EA4A928BCFF3}" srcOrd="2" destOrd="0" parTransId="{2DE7EF15-F6A9-405A-86CF-F402842BC812}" sibTransId="{AB00BCE4-097D-4216-8D09-0957DE3AE41E}"/>
    <dgm:cxn modelId="{FC3B7A39-16DC-4F67-8155-C9740A723D96}" type="presOf" srcId="{FD301687-FB37-4E13-84BA-EA4A928BCFF3}" destId="{83B2821A-F604-43F6-A1C7-3F2485ECF773}" srcOrd="1" destOrd="0" presId="urn:microsoft.com/office/officeart/2016/7/layout/LinearBlockProcessNumbered"/>
    <dgm:cxn modelId="{39047A5C-83AB-4DFC-AFD1-7D3477A03BE0}" type="presOf" srcId="{F25B2A1D-ABC9-4129-A373-454277C66894}" destId="{CB25B3B8-1650-454F-A41D-C1144FB50074}" srcOrd="0" destOrd="0" presId="urn:microsoft.com/office/officeart/2016/7/layout/LinearBlockProcessNumbered"/>
    <dgm:cxn modelId="{D130D65C-92DB-43F6-8ADF-5E4DB45BE39B}" type="presOf" srcId="{EEC64F12-FB4E-40BB-A5BA-83628ED413A2}" destId="{477A40A2-32EB-465B-A449-037AAFB83470}" srcOrd="0" destOrd="0" presId="urn:microsoft.com/office/officeart/2016/7/layout/LinearBlockProcessNumbered"/>
    <dgm:cxn modelId="{0519D27A-FA5F-4EB9-ABB3-5312E75A5A71}" type="presOf" srcId="{EEC64F12-FB4E-40BB-A5BA-83628ED413A2}" destId="{BDD7761B-C06F-4FD3-BF08-94927F962B1A}" srcOrd="1" destOrd="0" presId="urn:microsoft.com/office/officeart/2016/7/layout/LinearBlockProcessNumbered"/>
    <dgm:cxn modelId="{1C7DB983-861B-4E8C-A528-2712630FF146}" type="presOf" srcId="{56F97A81-5EBE-4DFB-A3D9-970FE81B1A43}" destId="{2CB8AE20-2D01-4472-814D-4C1D12EDFFF9}" srcOrd="0" destOrd="0" presId="urn:microsoft.com/office/officeart/2016/7/layout/LinearBlockProcessNumbered"/>
    <dgm:cxn modelId="{42BA8E89-6E38-422D-9C99-DC37945CF4B2}" type="presOf" srcId="{F25B2A1D-ABC9-4129-A373-454277C66894}" destId="{202605D3-EA27-4C82-8332-CC942ACF8E2F}" srcOrd="1" destOrd="0" presId="urn:microsoft.com/office/officeart/2016/7/layout/LinearBlockProcessNumbered"/>
    <dgm:cxn modelId="{0F20008F-BFF3-41FB-BBAB-33842AB1A3B7}" type="presOf" srcId="{AB00BCE4-097D-4216-8D09-0957DE3AE41E}" destId="{A68C6334-08A9-4599-B027-72988E9AF253}" srcOrd="0" destOrd="0" presId="urn:microsoft.com/office/officeart/2016/7/layout/LinearBlockProcessNumbered"/>
    <dgm:cxn modelId="{12224BB9-2A27-452E-974A-C285C506990A}" type="presOf" srcId="{89F8C95B-A9FF-4E81-895F-6DDC74C17CBA}" destId="{0B0DA449-7116-4B4D-9AB5-B79FAFDA23FB}" srcOrd="0" destOrd="0" presId="urn:microsoft.com/office/officeart/2016/7/layout/LinearBlockProcessNumbered"/>
    <dgm:cxn modelId="{1FF710E3-ED34-4A09-BFAE-0B67A30EA783}" type="presOf" srcId="{FD301687-FB37-4E13-84BA-EA4A928BCFF3}" destId="{C6F3890D-7F9D-4B71-AE9E-3C03BF73C368}" srcOrd="0" destOrd="0" presId="urn:microsoft.com/office/officeart/2016/7/layout/LinearBlockProcessNumbered"/>
    <dgm:cxn modelId="{6A2478F0-A110-4C68-BCDC-13F532539024}" srcId="{BF1E7098-6E16-4FB7-B746-BCEF9F7C65C8}" destId="{F25B2A1D-ABC9-4129-A373-454277C66894}" srcOrd="0" destOrd="0" parTransId="{605F6BC9-D6B8-4979-99A7-58CC23A3BB3D}" sibTransId="{6287F304-5E2A-4414-AA78-C87C08F33AE6}"/>
    <dgm:cxn modelId="{0FB634F3-4CF3-4D69-A648-82178FD76459}" srcId="{BF1E7098-6E16-4FB7-B746-BCEF9F7C65C8}" destId="{EEC64F12-FB4E-40BB-A5BA-83628ED413A2}" srcOrd="3" destOrd="0" parTransId="{1156BC74-347C-4D94-938E-51B9B04A6B78}" sibTransId="{4979F7B5-BE20-424A-A85D-126F1A1FC753}"/>
    <dgm:cxn modelId="{B3509CF9-0CCB-4D84-BAEB-9091A8E1ADA5}" type="presOf" srcId="{BF1E7098-6E16-4FB7-B746-BCEF9F7C65C8}" destId="{F8926FEF-E5BA-4243-A6E2-C494B9CAD221}" srcOrd="0" destOrd="0" presId="urn:microsoft.com/office/officeart/2016/7/layout/LinearBlockProcessNumbered"/>
    <dgm:cxn modelId="{4ECC918B-9909-44CD-9198-F32CFFFD923C}" type="presParOf" srcId="{F8926FEF-E5BA-4243-A6E2-C494B9CAD221}" destId="{84F3A015-7387-49A9-8DA4-FC1049215502}" srcOrd="0" destOrd="0" presId="urn:microsoft.com/office/officeart/2016/7/layout/LinearBlockProcessNumbered"/>
    <dgm:cxn modelId="{98A9A3F8-B6CE-4050-85C0-45BE57E9370A}" type="presParOf" srcId="{84F3A015-7387-49A9-8DA4-FC1049215502}" destId="{CB25B3B8-1650-454F-A41D-C1144FB50074}" srcOrd="0" destOrd="0" presId="urn:microsoft.com/office/officeart/2016/7/layout/LinearBlockProcessNumbered"/>
    <dgm:cxn modelId="{DF3AFFF1-8E90-4957-A2D3-158B1E9033A1}" type="presParOf" srcId="{84F3A015-7387-49A9-8DA4-FC1049215502}" destId="{FBD48158-3630-4B3B-9C19-CE77255E9E21}" srcOrd="1" destOrd="0" presId="urn:microsoft.com/office/officeart/2016/7/layout/LinearBlockProcessNumbered"/>
    <dgm:cxn modelId="{D16D75BD-B5C3-4775-9C77-FFC424951205}" type="presParOf" srcId="{84F3A015-7387-49A9-8DA4-FC1049215502}" destId="{202605D3-EA27-4C82-8332-CC942ACF8E2F}" srcOrd="2" destOrd="0" presId="urn:microsoft.com/office/officeart/2016/7/layout/LinearBlockProcessNumbered"/>
    <dgm:cxn modelId="{FAB7353E-6935-4374-A40B-2241D602E59D}" type="presParOf" srcId="{F8926FEF-E5BA-4243-A6E2-C494B9CAD221}" destId="{73C8C105-21EB-46D9-922D-49F4DAC57FEE}" srcOrd="1" destOrd="0" presId="urn:microsoft.com/office/officeart/2016/7/layout/LinearBlockProcessNumbered"/>
    <dgm:cxn modelId="{F5B7E9EB-132B-4536-87EE-B0E890A73E62}" type="presParOf" srcId="{F8926FEF-E5BA-4243-A6E2-C494B9CAD221}" destId="{072E412C-6966-47F7-A628-430485CB5A4A}" srcOrd="2" destOrd="0" presId="urn:microsoft.com/office/officeart/2016/7/layout/LinearBlockProcessNumbered"/>
    <dgm:cxn modelId="{F42C0F51-9AE0-4053-B790-7C871DEC2A3E}" type="presParOf" srcId="{072E412C-6966-47F7-A628-430485CB5A4A}" destId="{0B0DA449-7116-4B4D-9AB5-B79FAFDA23FB}" srcOrd="0" destOrd="0" presId="urn:microsoft.com/office/officeart/2016/7/layout/LinearBlockProcessNumbered"/>
    <dgm:cxn modelId="{FEDE5497-25BF-4422-AC65-3CB2A0329D29}" type="presParOf" srcId="{072E412C-6966-47F7-A628-430485CB5A4A}" destId="{2CB8AE20-2D01-4472-814D-4C1D12EDFFF9}" srcOrd="1" destOrd="0" presId="urn:microsoft.com/office/officeart/2016/7/layout/LinearBlockProcessNumbered"/>
    <dgm:cxn modelId="{426348B4-3025-493E-9904-156AF8425F36}" type="presParOf" srcId="{072E412C-6966-47F7-A628-430485CB5A4A}" destId="{A16B0B02-76AE-4B6A-B61C-C1FE24E5F3A5}" srcOrd="2" destOrd="0" presId="urn:microsoft.com/office/officeart/2016/7/layout/LinearBlockProcessNumbered"/>
    <dgm:cxn modelId="{C6E663F8-6A9B-4E91-AAE2-8469A2750DEE}" type="presParOf" srcId="{F8926FEF-E5BA-4243-A6E2-C494B9CAD221}" destId="{5FC43113-54CA-41F9-9387-FB82B62EAF2A}" srcOrd="3" destOrd="0" presId="urn:microsoft.com/office/officeart/2016/7/layout/LinearBlockProcessNumbered"/>
    <dgm:cxn modelId="{1EFB3B4E-7A96-422B-A88A-96A9FAB8CEE2}" type="presParOf" srcId="{F8926FEF-E5BA-4243-A6E2-C494B9CAD221}" destId="{1976D27E-E2DC-41B7-996C-943E49E7BAF3}" srcOrd="4" destOrd="0" presId="urn:microsoft.com/office/officeart/2016/7/layout/LinearBlockProcessNumbered"/>
    <dgm:cxn modelId="{4164D651-DD4A-4B8A-AB5F-B3D9A3F32F66}" type="presParOf" srcId="{1976D27E-E2DC-41B7-996C-943E49E7BAF3}" destId="{C6F3890D-7F9D-4B71-AE9E-3C03BF73C368}" srcOrd="0" destOrd="0" presId="urn:microsoft.com/office/officeart/2016/7/layout/LinearBlockProcessNumbered"/>
    <dgm:cxn modelId="{8712EFE8-AC59-4E70-ACC7-804A32D591A1}" type="presParOf" srcId="{1976D27E-E2DC-41B7-996C-943E49E7BAF3}" destId="{A68C6334-08A9-4599-B027-72988E9AF253}" srcOrd="1" destOrd="0" presId="urn:microsoft.com/office/officeart/2016/7/layout/LinearBlockProcessNumbered"/>
    <dgm:cxn modelId="{5FD4F529-9A88-4477-BE94-F98E55431AA2}" type="presParOf" srcId="{1976D27E-E2DC-41B7-996C-943E49E7BAF3}" destId="{83B2821A-F604-43F6-A1C7-3F2485ECF773}" srcOrd="2" destOrd="0" presId="urn:microsoft.com/office/officeart/2016/7/layout/LinearBlockProcessNumbered"/>
    <dgm:cxn modelId="{D07137F8-0794-4295-AA47-217BCE87AA9C}" type="presParOf" srcId="{F8926FEF-E5BA-4243-A6E2-C494B9CAD221}" destId="{64C5DC5D-6182-47FF-96C8-252BE0DCCA50}" srcOrd="5" destOrd="0" presId="urn:microsoft.com/office/officeart/2016/7/layout/LinearBlockProcessNumbered"/>
    <dgm:cxn modelId="{49F96F57-C141-490F-805A-CB55E275E5B0}" type="presParOf" srcId="{F8926FEF-E5BA-4243-A6E2-C494B9CAD221}" destId="{0E44001A-ED03-4409-9729-F3B73BD46926}" srcOrd="6" destOrd="0" presId="urn:microsoft.com/office/officeart/2016/7/layout/LinearBlockProcessNumbered"/>
    <dgm:cxn modelId="{87BCC710-3A3D-4CB8-B996-202D080E1F22}" type="presParOf" srcId="{0E44001A-ED03-4409-9729-F3B73BD46926}" destId="{477A40A2-32EB-465B-A449-037AAFB83470}" srcOrd="0" destOrd="0" presId="urn:microsoft.com/office/officeart/2016/7/layout/LinearBlockProcessNumbered"/>
    <dgm:cxn modelId="{48C40E0E-5B03-4F83-AA2F-5EC91299C45D}" type="presParOf" srcId="{0E44001A-ED03-4409-9729-F3B73BD46926}" destId="{FFD802F6-8419-47CE-9354-E0F3B0D6FE57}" srcOrd="1" destOrd="0" presId="urn:microsoft.com/office/officeart/2016/7/layout/LinearBlockProcessNumbered"/>
    <dgm:cxn modelId="{4F6D1FD1-1BFD-44AF-B415-7FD513E973CD}" type="presParOf" srcId="{0E44001A-ED03-4409-9729-F3B73BD46926}" destId="{BDD7761B-C06F-4FD3-BF08-94927F962B1A}"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952D1B5-0279-44B7-8FCD-A5617A8EABA1}"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17535E0A-2D43-4B73-B563-754A84507D0D}">
      <dgm:prSet/>
      <dgm:spPr/>
      <dgm:t>
        <a:bodyPr/>
        <a:lstStyle/>
        <a:p>
          <a:r>
            <a:rPr lang="en-US"/>
            <a:t>Enable Anti-Phishing Policies: Safe Links, Safe Attachments, and Impersonation Protection.</a:t>
          </a:r>
        </a:p>
      </dgm:t>
    </dgm:pt>
    <dgm:pt modelId="{E0CA7EA0-6C71-46CC-A73B-5FC9911D77A2}" type="parTrans" cxnId="{30376B63-AEF4-433F-A04D-6C64AB6A9CD0}">
      <dgm:prSet/>
      <dgm:spPr/>
      <dgm:t>
        <a:bodyPr/>
        <a:lstStyle/>
        <a:p>
          <a:endParaRPr lang="en-US"/>
        </a:p>
      </dgm:t>
    </dgm:pt>
    <dgm:pt modelId="{5E50A30E-7BDA-43EF-90E9-E11E8B081297}" type="sibTrans" cxnId="{30376B63-AEF4-433F-A04D-6C64AB6A9CD0}">
      <dgm:prSet/>
      <dgm:spPr/>
      <dgm:t>
        <a:bodyPr/>
        <a:lstStyle/>
        <a:p>
          <a:endParaRPr lang="en-US"/>
        </a:p>
      </dgm:t>
    </dgm:pt>
    <dgm:pt modelId="{1FFDD261-32B3-4CAF-A887-765003DB48B0}">
      <dgm:prSet/>
      <dgm:spPr/>
      <dgm:t>
        <a:bodyPr/>
        <a:lstStyle/>
        <a:p>
          <a:r>
            <a:rPr lang="en-US"/>
            <a:t>Block the domain using tenant allow/block list in Defender portal</a:t>
          </a:r>
        </a:p>
      </dgm:t>
    </dgm:pt>
    <dgm:pt modelId="{B7B5CDE6-C88C-42EB-B677-5B89518C2996}" type="parTrans" cxnId="{7F81BFDF-A682-4B6C-9A15-3554CA049D07}">
      <dgm:prSet/>
      <dgm:spPr/>
      <dgm:t>
        <a:bodyPr/>
        <a:lstStyle/>
        <a:p>
          <a:endParaRPr lang="en-US"/>
        </a:p>
      </dgm:t>
    </dgm:pt>
    <dgm:pt modelId="{5E4E37A5-09E1-4F93-A103-69C33298C4DF}" type="sibTrans" cxnId="{7F81BFDF-A682-4B6C-9A15-3554CA049D07}">
      <dgm:prSet/>
      <dgm:spPr/>
      <dgm:t>
        <a:bodyPr/>
        <a:lstStyle/>
        <a:p>
          <a:endParaRPr lang="en-US"/>
        </a:p>
      </dgm:t>
    </dgm:pt>
    <dgm:pt modelId="{85A3755F-89F2-418B-AC72-70E71CD1ED66}">
      <dgm:prSet/>
      <dgm:spPr/>
      <dgm:t>
        <a:bodyPr/>
        <a:lstStyle/>
        <a:p>
          <a:r>
            <a:rPr lang="en-US"/>
            <a:t>Enforce MFA for all users.</a:t>
          </a:r>
        </a:p>
      </dgm:t>
    </dgm:pt>
    <dgm:pt modelId="{8BE2FF5C-DC70-464A-910E-3AF67C2A81DD}" type="parTrans" cxnId="{87CC12E2-608F-4018-8732-CBB3AE1F7CD9}">
      <dgm:prSet/>
      <dgm:spPr/>
      <dgm:t>
        <a:bodyPr/>
        <a:lstStyle/>
        <a:p>
          <a:endParaRPr lang="en-US"/>
        </a:p>
      </dgm:t>
    </dgm:pt>
    <dgm:pt modelId="{03531FB2-0DBC-48A3-8B2C-8BAE97DB7EF5}" type="sibTrans" cxnId="{87CC12E2-608F-4018-8732-CBB3AE1F7CD9}">
      <dgm:prSet/>
      <dgm:spPr/>
      <dgm:t>
        <a:bodyPr/>
        <a:lstStyle/>
        <a:p>
          <a:endParaRPr lang="en-US"/>
        </a:p>
      </dgm:t>
    </dgm:pt>
    <dgm:pt modelId="{9A6E38E5-D1A9-4DE4-BEF1-87281B56914F}">
      <dgm:prSet/>
      <dgm:spPr/>
      <dgm:t>
        <a:bodyPr/>
        <a:lstStyle/>
        <a:p>
          <a:r>
            <a:rPr lang="en-US"/>
            <a:t>Review and update  email authentication protocols SPF, DKIM, and DMARC settings for email authentication.</a:t>
          </a:r>
        </a:p>
      </dgm:t>
    </dgm:pt>
    <dgm:pt modelId="{B1F8AC4A-4B01-41BA-B851-A1C4F582622A}" type="parTrans" cxnId="{B0750164-E8EE-46F8-AD99-50BA9EC82F40}">
      <dgm:prSet/>
      <dgm:spPr/>
      <dgm:t>
        <a:bodyPr/>
        <a:lstStyle/>
        <a:p>
          <a:endParaRPr lang="en-US"/>
        </a:p>
      </dgm:t>
    </dgm:pt>
    <dgm:pt modelId="{CBA63613-4868-4D07-A7CA-747FF719F278}" type="sibTrans" cxnId="{B0750164-E8EE-46F8-AD99-50BA9EC82F40}">
      <dgm:prSet/>
      <dgm:spPr/>
      <dgm:t>
        <a:bodyPr/>
        <a:lstStyle/>
        <a:p>
          <a:endParaRPr lang="en-US"/>
        </a:p>
      </dgm:t>
    </dgm:pt>
    <dgm:pt modelId="{2F32D9B5-D0E7-47BB-9D52-B264DFBBD46B}">
      <dgm:prSet/>
      <dgm:spPr/>
      <dgm:t>
        <a:bodyPr/>
        <a:lstStyle/>
        <a:p>
          <a:r>
            <a:rPr lang="en-US"/>
            <a:t>Regular phishing awareness and reporting processes training for the end users</a:t>
          </a:r>
        </a:p>
      </dgm:t>
    </dgm:pt>
    <dgm:pt modelId="{3691C72E-A462-4795-BD62-4603FF36AFBC}" type="parTrans" cxnId="{86D274C9-59D6-46B8-B7A0-01044D4A00AF}">
      <dgm:prSet/>
      <dgm:spPr/>
      <dgm:t>
        <a:bodyPr/>
        <a:lstStyle/>
        <a:p>
          <a:endParaRPr lang="en-US"/>
        </a:p>
      </dgm:t>
    </dgm:pt>
    <dgm:pt modelId="{0A219DC6-263E-4477-9582-F838CEED1379}" type="sibTrans" cxnId="{86D274C9-59D6-46B8-B7A0-01044D4A00AF}">
      <dgm:prSet/>
      <dgm:spPr/>
      <dgm:t>
        <a:bodyPr/>
        <a:lstStyle/>
        <a:p>
          <a:endParaRPr lang="en-US"/>
        </a:p>
      </dgm:t>
    </dgm:pt>
    <dgm:pt modelId="{DB4D3D73-C156-4D48-8837-345D0B191523}" type="pres">
      <dgm:prSet presAssocID="{C952D1B5-0279-44B7-8FCD-A5617A8EABA1}" presName="vert0" presStyleCnt="0">
        <dgm:presLayoutVars>
          <dgm:dir/>
          <dgm:animOne val="branch"/>
          <dgm:animLvl val="lvl"/>
        </dgm:presLayoutVars>
      </dgm:prSet>
      <dgm:spPr/>
    </dgm:pt>
    <dgm:pt modelId="{FEA13663-743A-4D94-AF3D-AA4B2C524D70}" type="pres">
      <dgm:prSet presAssocID="{17535E0A-2D43-4B73-B563-754A84507D0D}" presName="thickLine" presStyleLbl="alignNode1" presStyleIdx="0" presStyleCnt="5"/>
      <dgm:spPr/>
    </dgm:pt>
    <dgm:pt modelId="{55ED994C-9990-4DF2-A4FA-3B63526CB889}" type="pres">
      <dgm:prSet presAssocID="{17535E0A-2D43-4B73-B563-754A84507D0D}" presName="horz1" presStyleCnt="0"/>
      <dgm:spPr/>
    </dgm:pt>
    <dgm:pt modelId="{799EB9C9-8CE4-42CE-A6C3-E38BA095688D}" type="pres">
      <dgm:prSet presAssocID="{17535E0A-2D43-4B73-B563-754A84507D0D}" presName="tx1" presStyleLbl="revTx" presStyleIdx="0" presStyleCnt="5"/>
      <dgm:spPr/>
    </dgm:pt>
    <dgm:pt modelId="{33BE646A-C024-4678-BE94-035139A89876}" type="pres">
      <dgm:prSet presAssocID="{17535E0A-2D43-4B73-B563-754A84507D0D}" presName="vert1" presStyleCnt="0"/>
      <dgm:spPr/>
    </dgm:pt>
    <dgm:pt modelId="{81416EA1-11C3-4E26-AAF6-71F093C00A24}" type="pres">
      <dgm:prSet presAssocID="{1FFDD261-32B3-4CAF-A887-765003DB48B0}" presName="thickLine" presStyleLbl="alignNode1" presStyleIdx="1" presStyleCnt="5"/>
      <dgm:spPr/>
    </dgm:pt>
    <dgm:pt modelId="{59BD1042-309E-4572-A866-A6EB576EC7DA}" type="pres">
      <dgm:prSet presAssocID="{1FFDD261-32B3-4CAF-A887-765003DB48B0}" presName="horz1" presStyleCnt="0"/>
      <dgm:spPr/>
    </dgm:pt>
    <dgm:pt modelId="{C6A996BF-445B-4DEA-869E-28912BE5B274}" type="pres">
      <dgm:prSet presAssocID="{1FFDD261-32B3-4CAF-A887-765003DB48B0}" presName="tx1" presStyleLbl="revTx" presStyleIdx="1" presStyleCnt="5"/>
      <dgm:spPr/>
    </dgm:pt>
    <dgm:pt modelId="{A471924D-6263-4982-BB3A-F7E3531284CD}" type="pres">
      <dgm:prSet presAssocID="{1FFDD261-32B3-4CAF-A887-765003DB48B0}" presName="vert1" presStyleCnt="0"/>
      <dgm:spPr/>
    </dgm:pt>
    <dgm:pt modelId="{1BCD73D8-E483-4AD3-A33E-525CA77EDD99}" type="pres">
      <dgm:prSet presAssocID="{85A3755F-89F2-418B-AC72-70E71CD1ED66}" presName="thickLine" presStyleLbl="alignNode1" presStyleIdx="2" presStyleCnt="5"/>
      <dgm:spPr/>
    </dgm:pt>
    <dgm:pt modelId="{07369847-7789-4557-AC12-98A7D376F06F}" type="pres">
      <dgm:prSet presAssocID="{85A3755F-89F2-418B-AC72-70E71CD1ED66}" presName="horz1" presStyleCnt="0"/>
      <dgm:spPr/>
    </dgm:pt>
    <dgm:pt modelId="{AC41893A-6071-452C-AE74-AA065C2C10B8}" type="pres">
      <dgm:prSet presAssocID="{85A3755F-89F2-418B-AC72-70E71CD1ED66}" presName="tx1" presStyleLbl="revTx" presStyleIdx="2" presStyleCnt="5"/>
      <dgm:spPr/>
    </dgm:pt>
    <dgm:pt modelId="{1E1976C1-6C31-48A4-B3E6-04E2404BEC40}" type="pres">
      <dgm:prSet presAssocID="{85A3755F-89F2-418B-AC72-70E71CD1ED66}" presName="vert1" presStyleCnt="0"/>
      <dgm:spPr/>
    </dgm:pt>
    <dgm:pt modelId="{843C4EFD-8598-4BA7-A106-59C7B2D8C3F3}" type="pres">
      <dgm:prSet presAssocID="{9A6E38E5-D1A9-4DE4-BEF1-87281B56914F}" presName="thickLine" presStyleLbl="alignNode1" presStyleIdx="3" presStyleCnt="5"/>
      <dgm:spPr/>
    </dgm:pt>
    <dgm:pt modelId="{E81B20A3-F0FA-48C0-8892-4BA4347A4EC7}" type="pres">
      <dgm:prSet presAssocID="{9A6E38E5-D1A9-4DE4-BEF1-87281B56914F}" presName="horz1" presStyleCnt="0"/>
      <dgm:spPr/>
    </dgm:pt>
    <dgm:pt modelId="{397F1519-C398-48FE-8F93-E8103E0C7D5F}" type="pres">
      <dgm:prSet presAssocID="{9A6E38E5-D1A9-4DE4-BEF1-87281B56914F}" presName="tx1" presStyleLbl="revTx" presStyleIdx="3" presStyleCnt="5"/>
      <dgm:spPr/>
    </dgm:pt>
    <dgm:pt modelId="{4AF072D8-EF51-4D76-A9D0-30DEDED50448}" type="pres">
      <dgm:prSet presAssocID="{9A6E38E5-D1A9-4DE4-BEF1-87281B56914F}" presName="vert1" presStyleCnt="0"/>
      <dgm:spPr/>
    </dgm:pt>
    <dgm:pt modelId="{2156C1BA-AC15-48B7-87B8-FAD27C5B69C8}" type="pres">
      <dgm:prSet presAssocID="{2F32D9B5-D0E7-47BB-9D52-B264DFBBD46B}" presName="thickLine" presStyleLbl="alignNode1" presStyleIdx="4" presStyleCnt="5"/>
      <dgm:spPr/>
    </dgm:pt>
    <dgm:pt modelId="{3312C27E-7C09-4865-859C-C2CEB4E757A5}" type="pres">
      <dgm:prSet presAssocID="{2F32D9B5-D0E7-47BB-9D52-B264DFBBD46B}" presName="horz1" presStyleCnt="0"/>
      <dgm:spPr/>
    </dgm:pt>
    <dgm:pt modelId="{07C5F591-50C3-4355-95D8-9069C5191D25}" type="pres">
      <dgm:prSet presAssocID="{2F32D9B5-D0E7-47BB-9D52-B264DFBBD46B}" presName="tx1" presStyleLbl="revTx" presStyleIdx="4" presStyleCnt="5"/>
      <dgm:spPr/>
    </dgm:pt>
    <dgm:pt modelId="{C2D9CB2D-4E89-4A83-BDB9-C4AB799581EA}" type="pres">
      <dgm:prSet presAssocID="{2F32D9B5-D0E7-47BB-9D52-B264DFBBD46B}" presName="vert1" presStyleCnt="0"/>
      <dgm:spPr/>
    </dgm:pt>
  </dgm:ptLst>
  <dgm:cxnLst>
    <dgm:cxn modelId="{E2FCD604-0686-41BB-8624-351FC74BEC08}" type="presOf" srcId="{2F32D9B5-D0E7-47BB-9D52-B264DFBBD46B}" destId="{07C5F591-50C3-4355-95D8-9069C5191D25}" srcOrd="0" destOrd="0" presId="urn:microsoft.com/office/officeart/2008/layout/LinedList"/>
    <dgm:cxn modelId="{755A8736-21A4-4BB5-9EF3-D28CA2B4D45E}" type="presOf" srcId="{C952D1B5-0279-44B7-8FCD-A5617A8EABA1}" destId="{DB4D3D73-C156-4D48-8837-345D0B191523}" srcOrd="0" destOrd="0" presId="urn:microsoft.com/office/officeart/2008/layout/LinedList"/>
    <dgm:cxn modelId="{30376B63-AEF4-433F-A04D-6C64AB6A9CD0}" srcId="{C952D1B5-0279-44B7-8FCD-A5617A8EABA1}" destId="{17535E0A-2D43-4B73-B563-754A84507D0D}" srcOrd="0" destOrd="0" parTransId="{E0CA7EA0-6C71-46CC-A73B-5FC9911D77A2}" sibTransId="{5E50A30E-7BDA-43EF-90E9-E11E8B081297}"/>
    <dgm:cxn modelId="{B0750164-E8EE-46F8-AD99-50BA9EC82F40}" srcId="{C952D1B5-0279-44B7-8FCD-A5617A8EABA1}" destId="{9A6E38E5-D1A9-4DE4-BEF1-87281B56914F}" srcOrd="3" destOrd="0" parTransId="{B1F8AC4A-4B01-41BA-B851-A1C4F582622A}" sibTransId="{CBA63613-4868-4D07-A7CA-747FF719F278}"/>
    <dgm:cxn modelId="{2663A870-297B-4260-8F9D-68664B5C0346}" type="presOf" srcId="{9A6E38E5-D1A9-4DE4-BEF1-87281B56914F}" destId="{397F1519-C398-48FE-8F93-E8103E0C7D5F}" srcOrd="0" destOrd="0" presId="urn:microsoft.com/office/officeart/2008/layout/LinedList"/>
    <dgm:cxn modelId="{8EBFFF71-2297-4FEE-9A7D-9E5F8749AC18}" type="presOf" srcId="{1FFDD261-32B3-4CAF-A887-765003DB48B0}" destId="{C6A996BF-445B-4DEA-869E-28912BE5B274}" srcOrd="0" destOrd="0" presId="urn:microsoft.com/office/officeart/2008/layout/LinedList"/>
    <dgm:cxn modelId="{6EA588A6-3320-48B0-9AF4-F0414ACFF5A7}" type="presOf" srcId="{17535E0A-2D43-4B73-B563-754A84507D0D}" destId="{799EB9C9-8CE4-42CE-A6C3-E38BA095688D}" srcOrd="0" destOrd="0" presId="urn:microsoft.com/office/officeart/2008/layout/LinedList"/>
    <dgm:cxn modelId="{86D274C9-59D6-46B8-B7A0-01044D4A00AF}" srcId="{C952D1B5-0279-44B7-8FCD-A5617A8EABA1}" destId="{2F32D9B5-D0E7-47BB-9D52-B264DFBBD46B}" srcOrd="4" destOrd="0" parTransId="{3691C72E-A462-4795-BD62-4603FF36AFBC}" sibTransId="{0A219DC6-263E-4477-9582-F838CEED1379}"/>
    <dgm:cxn modelId="{CE332BCE-C68A-4922-A597-1255009D9FD2}" type="presOf" srcId="{85A3755F-89F2-418B-AC72-70E71CD1ED66}" destId="{AC41893A-6071-452C-AE74-AA065C2C10B8}" srcOrd="0" destOrd="0" presId="urn:microsoft.com/office/officeart/2008/layout/LinedList"/>
    <dgm:cxn modelId="{7F81BFDF-A682-4B6C-9A15-3554CA049D07}" srcId="{C952D1B5-0279-44B7-8FCD-A5617A8EABA1}" destId="{1FFDD261-32B3-4CAF-A887-765003DB48B0}" srcOrd="1" destOrd="0" parTransId="{B7B5CDE6-C88C-42EB-B677-5B89518C2996}" sibTransId="{5E4E37A5-09E1-4F93-A103-69C33298C4DF}"/>
    <dgm:cxn modelId="{87CC12E2-608F-4018-8732-CBB3AE1F7CD9}" srcId="{C952D1B5-0279-44B7-8FCD-A5617A8EABA1}" destId="{85A3755F-89F2-418B-AC72-70E71CD1ED66}" srcOrd="2" destOrd="0" parTransId="{8BE2FF5C-DC70-464A-910E-3AF67C2A81DD}" sibTransId="{03531FB2-0DBC-48A3-8B2C-8BAE97DB7EF5}"/>
    <dgm:cxn modelId="{3896EF95-5AB2-4DD7-B71D-ADC3545C0E57}" type="presParOf" srcId="{DB4D3D73-C156-4D48-8837-345D0B191523}" destId="{FEA13663-743A-4D94-AF3D-AA4B2C524D70}" srcOrd="0" destOrd="0" presId="urn:microsoft.com/office/officeart/2008/layout/LinedList"/>
    <dgm:cxn modelId="{977B5F0B-D9E8-4B56-8B61-A5B56BB26274}" type="presParOf" srcId="{DB4D3D73-C156-4D48-8837-345D0B191523}" destId="{55ED994C-9990-4DF2-A4FA-3B63526CB889}" srcOrd="1" destOrd="0" presId="urn:microsoft.com/office/officeart/2008/layout/LinedList"/>
    <dgm:cxn modelId="{4F233016-578C-4B35-A051-9C2810994C32}" type="presParOf" srcId="{55ED994C-9990-4DF2-A4FA-3B63526CB889}" destId="{799EB9C9-8CE4-42CE-A6C3-E38BA095688D}" srcOrd="0" destOrd="0" presId="urn:microsoft.com/office/officeart/2008/layout/LinedList"/>
    <dgm:cxn modelId="{82649A00-231D-40A2-976E-E4D05195BC6E}" type="presParOf" srcId="{55ED994C-9990-4DF2-A4FA-3B63526CB889}" destId="{33BE646A-C024-4678-BE94-035139A89876}" srcOrd="1" destOrd="0" presId="urn:microsoft.com/office/officeart/2008/layout/LinedList"/>
    <dgm:cxn modelId="{9575EAC0-DECE-4DB8-9CDB-6811C81BB6F0}" type="presParOf" srcId="{DB4D3D73-C156-4D48-8837-345D0B191523}" destId="{81416EA1-11C3-4E26-AAF6-71F093C00A24}" srcOrd="2" destOrd="0" presId="urn:microsoft.com/office/officeart/2008/layout/LinedList"/>
    <dgm:cxn modelId="{8440D8F2-96F5-40FD-868A-D3910708ED5D}" type="presParOf" srcId="{DB4D3D73-C156-4D48-8837-345D0B191523}" destId="{59BD1042-309E-4572-A866-A6EB576EC7DA}" srcOrd="3" destOrd="0" presId="urn:microsoft.com/office/officeart/2008/layout/LinedList"/>
    <dgm:cxn modelId="{3C7BF28C-CC7A-4C8C-9065-1F5305905DE9}" type="presParOf" srcId="{59BD1042-309E-4572-A866-A6EB576EC7DA}" destId="{C6A996BF-445B-4DEA-869E-28912BE5B274}" srcOrd="0" destOrd="0" presId="urn:microsoft.com/office/officeart/2008/layout/LinedList"/>
    <dgm:cxn modelId="{3933FDE3-9E5B-4AAE-AFE7-EDCAA4A9AC0F}" type="presParOf" srcId="{59BD1042-309E-4572-A866-A6EB576EC7DA}" destId="{A471924D-6263-4982-BB3A-F7E3531284CD}" srcOrd="1" destOrd="0" presId="urn:microsoft.com/office/officeart/2008/layout/LinedList"/>
    <dgm:cxn modelId="{5F3ECD24-458C-41C4-B0EE-2623DCF94680}" type="presParOf" srcId="{DB4D3D73-C156-4D48-8837-345D0B191523}" destId="{1BCD73D8-E483-4AD3-A33E-525CA77EDD99}" srcOrd="4" destOrd="0" presId="urn:microsoft.com/office/officeart/2008/layout/LinedList"/>
    <dgm:cxn modelId="{08E5C4DA-A5AB-469A-B9DB-873DE2FF968D}" type="presParOf" srcId="{DB4D3D73-C156-4D48-8837-345D0B191523}" destId="{07369847-7789-4557-AC12-98A7D376F06F}" srcOrd="5" destOrd="0" presId="urn:microsoft.com/office/officeart/2008/layout/LinedList"/>
    <dgm:cxn modelId="{1DD7FEAB-378A-4467-9614-393B0B9F280D}" type="presParOf" srcId="{07369847-7789-4557-AC12-98A7D376F06F}" destId="{AC41893A-6071-452C-AE74-AA065C2C10B8}" srcOrd="0" destOrd="0" presId="urn:microsoft.com/office/officeart/2008/layout/LinedList"/>
    <dgm:cxn modelId="{23218A4C-4D4D-4C78-912D-C3B7AFCAA260}" type="presParOf" srcId="{07369847-7789-4557-AC12-98A7D376F06F}" destId="{1E1976C1-6C31-48A4-B3E6-04E2404BEC40}" srcOrd="1" destOrd="0" presId="urn:microsoft.com/office/officeart/2008/layout/LinedList"/>
    <dgm:cxn modelId="{2CEBF712-0E98-4124-BC08-CB8C920D53E4}" type="presParOf" srcId="{DB4D3D73-C156-4D48-8837-345D0B191523}" destId="{843C4EFD-8598-4BA7-A106-59C7B2D8C3F3}" srcOrd="6" destOrd="0" presId="urn:microsoft.com/office/officeart/2008/layout/LinedList"/>
    <dgm:cxn modelId="{9E7C262D-B862-4025-B3AE-E0B55A90731B}" type="presParOf" srcId="{DB4D3D73-C156-4D48-8837-345D0B191523}" destId="{E81B20A3-F0FA-48C0-8892-4BA4347A4EC7}" srcOrd="7" destOrd="0" presId="urn:microsoft.com/office/officeart/2008/layout/LinedList"/>
    <dgm:cxn modelId="{9508A7D8-3A1C-4973-9165-A48D5E166AD9}" type="presParOf" srcId="{E81B20A3-F0FA-48C0-8892-4BA4347A4EC7}" destId="{397F1519-C398-48FE-8F93-E8103E0C7D5F}" srcOrd="0" destOrd="0" presId="urn:microsoft.com/office/officeart/2008/layout/LinedList"/>
    <dgm:cxn modelId="{88EFB788-B427-4D7B-B1B2-79327839BEB2}" type="presParOf" srcId="{E81B20A3-F0FA-48C0-8892-4BA4347A4EC7}" destId="{4AF072D8-EF51-4D76-A9D0-30DEDED50448}" srcOrd="1" destOrd="0" presId="urn:microsoft.com/office/officeart/2008/layout/LinedList"/>
    <dgm:cxn modelId="{0D0042F0-AC1E-4938-B189-701BCFBFE9E1}" type="presParOf" srcId="{DB4D3D73-C156-4D48-8837-345D0B191523}" destId="{2156C1BA-AC15-48B7-87B8-FAD27C5B69C8}" srcOrd="8" destOrd="0" presId="urn:microsoft.com/office/officeart/2008/layout/LinedList"/>
    <dgm:cxn modelId="{63D18BD6-79B6-4B47-9F11-83D56C2CE6B6}" type="presParOf" srcId="{DB4D3D73-C156-4D48-8837-345D0B191523}" destId="{3312C27E-7C09-4865-859C-C2CEB4E757A5}" srcOrd="9" destOrd="0" presId="urn:microsoft.com/office/officeart/2008/layout/LinedList"/>
    <dgm:cxn modelId="{EDB29205-CC71-4684-AB5C-216D822E8D54}" type="presParOf" srcId="{3312C27E-7C09-4865-859C-C2CEB4E757A5}" destId="{07C5F591-50C3-4355-95D8-9069C5191D25}" srcOrd="0" destOrd="0" presId="urn:microsoft.com/office/officeart/2008/layout/LinedList"/>
    <dgm:cxn modelId="{43293CE7-68C5-40AD-AAD2-01AA9FB47F25}" type="presParOf" srcId="{3312C27E-7C09-4865-859C-C2CEB4E757A5}" destId="{C2D9CB2D-4E89-4A83-BDB9-C4AB799581EA}"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E06F3E-173B-46A5-B67D-94BBDC4F3E19}">
      <dsp:nvSpPr>
        <dsp:cNvPr id="0" name=""/>
        <dsp:cNvSpPr/>
      </dsp:nvSpPr>
      <dsp:spPr>
        <a:xfrm>
          <a:off x="518185" y="768902"/>
          <a:ext cx="1475437" cy="147543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1B9836-3F28-46D6-B205-9299C1B66E5C}">
      <dsp:nvSpPr>
        <dsp:cNvPr id="0" name=""/>
        <dsp:cNvSpPr/>
      </dsp:nvSpPr>
      <dsp:spPr>
        <a:xfrm>
          <a:off x="832623" y="1083340"/>
          <a:ext cx="846562" cy="8465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8F0F9C3-317F-446F-9F22-61A9534A2C35}">
      <dsp:nvSpPr>
        <dsp:cNvPr id="0" name=""/>
        <dsp:cNvSpPr/>
      </dsp:nvSpPr>
      <dsp:spPr>
        <a:xfrm>
          <a:off x="46529" y="2703902"/>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GB" sz="2500" kern="1200"/>
            <a:t>Data breaches</a:t>
          </a:r>
          <a:endParaRPr lang="en-US" sz="2500" kern="1200"/>
        </a:p>
      </dsp:txBody>
      <dsp:txXfrm>
        <a:off x="46529" y="2703902"/>
        <a:ext cx="2418750" cy="720000"/>
      </dsp:txXfrm>
    </dsp:sp>
    <dsp:sp modelId="{53EB103A-2D5E-401E-B23C-92ADD76B842E}">
      <dsp:nvSpPr>
        <dsp:cNvPr id="0" name=""/>
        <dsp:cNvSpPr/>
      </dsp:nvSpPr>
      <dsp:spPr>
        <a:xfrm>
          <a:off x="3360216" y="768902"/>
          <a:ext cx="1475437" cy="147543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2BEAA9-1357-4BB3-84A3-6CF6FFF88E35}">
      <dsp:nvSpPr>
        <dsp:cNvPr id="0" name=""/>
        <dsp:cNvSpPr/>
      </dsp:nvSpPr>
      <dsp:spPr>
        <a:xfrm>
          <a:off x="3674654" y="1083340"/>
          <a:ext cx="846562" cy="8465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58B9290-2468-4FE5-A790-AEEE7F6E917A}">
      <dsp:nvSpPr>
        <dsp:cNvPr id="0" name=""/>
        <dsp:cNvSpPr/>
      </dsp:nvSpPr>
      <dsp:spPr>
        <a:xfrm>
          <a:off x="2888560" y="2703902"/>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GB" sz="2500" kern="1200"/>
            <a:t>Financial loss</a:t>
          </a:r>
          <a:endParaRPr lang="en-US" sz="2500" kern="1200"/>
        </a:p>
      </dsp:txBody>
      <dsp:txXfrm>
        <a:off x="2888560" y="2703902"/>
        <a:ext cx="2418750" cy="720000"/>
      </dsp:txXfrm>
    </dsp:sp>
    <dsp:sp modelId="{23FA25F1-70B2-4AE2-BAB3-FB814BCB7867}">
      <dsp:nvSpPr>
        <dsp:cNvPr id="0" name=""/>
        <dsp:cNvSpPr/>
      </dsp:nvSpPr>
      <dsp:spPr>
        <a:xfrm>
          <a:off x="6202248" y="768902"/>
          <a:ext cx="1475437" cy="147543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AAC8C6-FEBA-44A4-87A4-1DD08DBF99FF}">
      <dsp:nvSpPr>
        <dsp:cNvPr id="0" name=""/>
        <dsp:cNvSpPr/>
      </dsp:nvSpPr>
      <dsp:spPr>
        <a:xfrm>
          <a:off x="6516685" y="1083340"/>
          <a:ext cx="846562" cy="846562"/>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2CA1322-504C-4E04-8641-E09CD88B3B00}">
      <dsp:nvSpPr>
        <dsp:cNvPr id="0" name=""/>
        <dsp:cNvSpPr/>
      </dsp:nvSpPr>
      <dsp:spPr>
        <a:xfrm>
          <a:off x="5730591" y="2703902"/>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GB" sz="2500" kern="1200" dirty="0"/>
            <a:t>Compromised accounts </a:t>
          </a:r>
          <a:endParaRPr lang="en-US" sz="2500" kern="1200" dirty="0"/>
        </a:p>
      </dsp:txBody>
      <dsp:txXfrm>
        <a:off x="5730591" y="2703902"/>
        <a:ext cx="24187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D663E2-0872-49A4-BE83-1ACF2A43307C}">
      <dsp:nvSpPr>
        <dsp:cNvPr id="0" name=""/>
        <dsp:cNvSpPr/>
      </dsp:nvSpPr>
      <dsp:spPr>
        <a:xfrm>
          <a:off x="749153" y="3413"/>
          <a:ext cx="2092988" cy="1255793"/>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t>Threat Explorer</a:t>
          </a:r>
          <a:endParaRPr lang="en-US" sz="1700" kern="1200"/>
        </a:p>
      </dsp:txBody>
      <dsp:txXfrm>
        <a:off x="749153" y="3413"/>
        <a:ext cx="2092988" cy="1255793"/>
      </dsp:txXfrm>
    </dsp:sp>
    <dsp:sp modelId="{79E3AD5F-0523-4F14-83E4-B9F1C913FCDE}">
      <dsp:nvSpPr>
        <dsp:cNvPr id="0" name=""/>
        <dsp:cNvSpPr/>
      </dsp:nvSpPr>
      <dsp:spPr>
        <a:xfrm>
          <a:off x="3051441" y="3413"/>
          <a:ext cx="2092988" cy="1255793"/>
        </a:xfrm>
        <a:prstGeom prst="rect">
          <a:avLst/>
        </a:prstGeom>
        <a:solidFill>
          <a:schemeClr val="accent2">
            <a:hueOff val="585190"/>
            <a:satOff val="-730"/>
            <a:lumOff val="17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t>Quarantine and Message Trace</a:t>
          </a:r>
          <a:endParaRPr lang="en-US" sz="1700" kern="1200"/>
        </a:p>
      </dsp:txBody>
      <dsp:txXfrm>
        <a:off x="3051441" y="3413"/>
        <a:ext cx="2092988" cy="1255793"/>
      </dsp:txXfrm>
    </dsp:sp>
    <dsp:sp modelId="{572755D3-A709-4B96-93BF-116DF1F2AA35}">
      <dsp:nvSpPr>
        <dsp:cNvPr id="0" name=""/>
        <dsp:cNvSpPr/>
      </dsp:nvSpPr>
      <dsp:spPr>
        <a:xfrm>
          <a:off x="5353728" y="3413"/>
          <a:ext cx="2092988" cy="1255793"/>
        </a:xfrm>
        <a:prstGeom prst="rect">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Unified Audit Log: Track interactions like opening the email or clicking links.</a:t>
          </a:r>
        </a:p>
      </dsp:txBody>
      <dsp:txXfrm>
        <a:off x="5353728" y="3413"/>
        <a:ext cx="2092988" cy="1255793"/>
      </dsp:txXfrm>
    </dsp:sp>
    <dsp:sp modelId="{8F029FCF-5591-4313-BC9B-27213A58D636}">
      <dsp:nvSpPr>
        <dsp:cNvPr id="0" name=""/>
        <dsp:cNvSpPr/>
      </dsp:nvSpPr>
      <dsp:spPr>
        <a:xfrm>
          <a:off x="749153" y="1468505"/>
          <a:ext cx="2092988" cy="1255793"/>
        </a:xfrm>
        <a:prstGeom prst="rect">
          <a:avLst/>
        </a:prstGeom>
        <a:solidFill>
          <a:schemeClr val="accent2">
            <a:hueOff val="1755570"/>
            <a:satOff val="-2190"/>
            <a:lumOff val="5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Sign-in Audit Logs</a:t>
          </a:r>
        </a:p>
      </dsp:txBody>
      <dsp:txXfrm>
        <a:off x="749153" y="1468505"/>
        <a:ext cx="2092988" cy="1255793"/>
      </dsp:txXfrm>
    </dsp:sp>
    <dsp:sp modelId="{AD8723E2-1FCC-4C45-8AA2-C519217DE8A9}">
      <dsp:nvSpPr>
        <dsp:cNvPr id="0" name=""/>
        <dsp:cNvSpPr/>
      </dsp:nvSpPr>
      <dsp:spPr>
        <a:xfrm>
          <a:off x="3051441" y="1468505"/>
          <a:ext cx="2092988" cy="1255793"/>
        </a:xfrm>
        <a:prstGeom prst="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t>Anti-Spam and Anti-Phishing Protection</a:t>
          </a:r>
          <a:endParaRPr lang="en-US" sz="1700" kern="1200"/>
        </a:p>
      </dsp:txBody>
      <dsp:txXfrm>
        <a:off x="3051441" y="1468505"/>
        <a:ext cx="2092988" cy="1255793"/>
      </dsp:txXfrm>
    </dsp:sp>
    <dsp:sp modelId="{FF0F21E1-AA22-4F6A-87EE-F515173CE586}">
      <dsp:nvSpPr>
        <dsp:cNvPr id="0" name=""/>
        <dsp:cNvSpPr/>
      </dsp:nvSpPr>
      <dsp:spPr>
        <a:xfrm>
          <a:off x="5353728" y="1468505"/>
          <a:ext cx="2092988" cy="1255793"/>
        </a:xfrm>
        <a:prstGeom prst="rect">
          <a:avLst/>
        </a:prstGeom>
        <a:solidFill>
          <a:schemeClr val="accent2">
            <a:hueOff val="2925949"/>
            <a:satOff val="-3649"/>
            <a:lumOff val="8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t>Anti-Malware Protection</a:t>
          </a:r>
          <a:endParaRPr lang="en-US" sz="1700" kern="1200"/>
        </a:p>
      </dsp:txBody>
      <dsp:txXfrm>
        <a:off x="5353728" y="1468505"/>
        <a:ext cx="2092988" cy="1255793"/>
      </dsp:txXfrm>
    </dsp:sp>
    <dsp:sp modelId="{72FB94C4-9080-4E4F-B96F-32D4F113DA4B}">
      <dsp:nvSpPr>
        <dsp:cNvPr id="0" name=""/>
        <dsp:cNvSpPr/>
      </dsp:nvSpPr>
      <dsp:spPr>
        <a:xfrm>
          <a:off x="749153" y="2933597"/>
          <a:ext cx="2092988" cy="1255793"/>
        </a:xfrm>
        <a:prstGeom prst="rect">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t>Threat Intelligence Reporting</a:t>
          </a:r>
          <a:endParaRPr lang="en-US" sz="1700" kern="1200"/>
        </a:p>
      </dsp:txBody>
      <dsp:txXfrm>
        <a:off x="749153" y="2933597"/>
        <a:ext cx="2092988" cy="1255793"/>
      </dsp:txXfrm>
    </dsp:sp>
    <dsp:sp modelId="{F48DDAA5-87AA-40D1-B515-DA7B2EB0BA77}">
      <dsp:nvSpPr>
        <dsp:cNvPr id="0" name=""/>
        <dsp:cNvSpPr/>
      </dsp:nvSpPr>
      <dsp:spPr>
        <a:xfrm>
          <a:off x="3051441" y="2933597"/>
          <a:ext cx="2092988" cy="1255793"/>
        </a:xfrm>
        <a:prstGeom prst="rect">
          <a:avLst/>
        </a:prstGeom>
        <a:solidFill>
          <a:schemeClr val="accent2">
            <a:hueOff val="4096329"/>
            <a:satOff val="-5109"/>
            <a:lumOff val="120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t>Mail flow rules</a:t>
          </a:r>
          <a:endParaRPr lang="en-US" sz="1700" kern="1200"/>
        </a:p>
      </dsp:txBody>
      <dsp:txXfrm>
        <a:off x="3051441" y="2933597"/>
        <a:ext cx="2092988" cy="1255793"/>
      </dsp:txXfrm>
    </dsp:sp>
    <dsp:sp modelId="{53CBEB17-57C2-42E3-9B22-928709EE753D}">
      <dsp:nvSpPr>
        <dsp:cNvPr id="0" name=""/>
        <dsp:cNvSpPr/>
      </dsp:nvSpPr>
      <dsp:spPr>
        <a:xfrm>
          <a:off x="5353728" y="2933597"/>
          <a:ext cx="2092988" cy="1255793"/>
        </a:xfrm>
        <a:prstGeom prst="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t>Attack simulation training tool</a:t>
          </a:r>
          <a:endParaRPr lang="en-US" sz="1700" kern="1200"/>
        </a:p>
      </dsp:txBody>
      <dsp:txXfrm>
        <a:off x="5353728" y="2933597"/>
        <a:ext cx="2092988" cy="125579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F64CBC-886F-411D-9ADA-A5AEB5F2C7CA}">
      <dsp:nvSpPr>
        <dsp:cNvPr id="0" name=""/>
        <dsp:cNvSpPr/>
      </dsp:nvSpPr>
      <dsp:spPr>
        <a:xfrm>
          <a:off x="1099810" y="696102"/>
          <a:ext cx="1660500" cy="16605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898EBF7-F5E7-44A9-A43D-9B3C104B136B}">
      <dsp:nvSpPr>
        <dsp:cNvPr id="0" name=""/>
        <dsp:cNvSpPr/>
      </dsp:nvSpPr>
      <dsp:spPr>
        <a:xfrm>
          <a:off x="85060" y="2776702"/>
          <a:ext cx="369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Avoid Interaction: Do not click links, open attachments, or reply.</a:t>
          </a:r>
        </a:p>
      </dsp:txBody>
      <dsp:txXfrm>
        <a:off x="85060" y="2776702"/>
        <a:ext cx="3690000" cy="720000"/>
      </dsp:txXfrm>
    </dsp:sp>
    <dsp:sp modelId="{8624A999-EA31-408C-8D57-6A188C920422}">
      <dsp:nvSpPr>
        <dsp:cNvPr id="0" name=""/>
        <dsp:cNvSpPr/>
      </dsp:nvSpPr>
      <dsp:spPr>
        <a:xfrm>
          <a:off x="5435560" y="696102"/>
          <a:ext cx="1660500" cy="16605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9E4787F-F5E9-4F4C-A650-F5FAA84505FD}">
      <dsp:nvSpPr>
        <dsp:cNvPr id="0" name=""/>
        <dsp:cNvSpPr/>
      </dsp:nvSpPr>
      <dsp:spPr>
        <a:xfrm>
          <a:off x="4420810" y="2776702"/>
          <a:ext cx="369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Report the Email: Use the built-in 'Report Phishing' or 'Report Junk' features in Outlook.</a:t>
          </a:r>
        </a:p>
      </dsp:txBody>
      <dsp:txXfrm>
        <a:off x="4420810" y="2776702"/>
        <a:ext cx="369000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25B3B8-1650-454F-A41D-C1144FB50074}">
      <dsp:nvSpPr>
        <dsp:cNvPr id="0" name=""/>
        <dsp:cNvSpPr/>
      </dsp:nvSpPr>
      <dsp:spPr>
        <a:xfrm>
          <a:off x="160" y="936654"/>
          <a:ext cx="1932912" cy="2319495"/>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929" tIns="0" rIns="190929" bIns="330200" numCol="1" spcCol="1270" anchor="t" anchorCtr="0">
          <a:noAutofit/>
        </a:bodyPr>
        <a:lstStyle/>
        <a:p>
          <a:pPr marL="0" lvl="0" indent="0" algn="l" defTabSz="488950">
            <a:lnSpc>
              <a:spcPct val="90000"/>
            </a:lnSpc>
            <a:spcBef>
              <a:spcPct val="0"/>
            </a:spcBef>
            <a:spcAft>
              <a:spcPct val="35000"/>
            </a:spcAft>
            <a:buNone/>
            <a:defRPr cap="all"/>
          </a:pPr>
          <a:r>
            <a:rPr lang="en-US" sz="1100" kern="1200" dirty="0"/>
            <a:t>Header Analysis: Verify sender identity, return-path, and received domains</a:t>
          </a:r>
          <a:r>
            <a:rPr lang="en-GB" sz="1100" kern="1200" dirty="0"/>
            <a:t> </a:t>
          </a:r>
          <a:r>
            <a:rPr lang="en-US" sz="1100" kern="1200" dirty="0"/>
            <a:t>for spoofing or other anomalies</a:t>
          </a:r>
        </a:p>
      </dsp:txBody>
      <dsp:txXfrm>
        <a:off x="160" y="1864452"/>
        <a:ext cx="1932912" cy="1391697"/>
      </dsp:txXfrm>
    </dsp:sp>
    <dsp:sp modelId="{FBD48158-3630-4B3B-9C19-CE77255E9E21}">
      <dsp:nvSpPr>
        <dsp:cNvPr id="0" name=""/>
        <dsp:cNvSpPr/>
      </dsp:nvSpPr>
      <dsp:spPr>
        <a:xfrm>
          <a:off x="160" y="936654"/>
          <a:ext cx="1932912" cy="927798"/>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90929" tIns="165100" rIns="190929" bIns="165100" numCol="1" spcCol="1270" anchor="ctr" anchorCtr="0">
          <a:noAutofit/>
        </a:bodyPr>
        <a:lstStyle/>
        <a:p>
          <a:pPr marL="0" lvl="0" indent="0" algn="l" defTabSz="1866900">
            <a:lnSpc>
              <a:spcPct val="90000"/>
            </a:lnSpc>
            <a:spcBef>
              <a:spcPct val="0"/>
            </a:spcBef>
            <a:spcAft>
              <a:spcPct val="35000"/>
            </a:spcAft>
            <a:buNone/>
          </a:pPr>
          <a:r>
            <a:rPr lang="en-US" sz="4200" kern="1200"/>
            <a:t>01</a:t>
          </a:r>
        </a:p>
      </dsp:txBody>
      <dsp:txXfrm>
        <a:off x="160" y="936654"/>
        <a:ext cx="1932912" cy="927798"/>
      </dsp:txXfrm>
    </dsp:sp>
    <dsp:sp modelId="{0B0DA449-7116-4B4D-9AB5-B79FAFDA23FB}">
      <dsp:nvSpPr>
        <dsp:cNvPr id="0" name=""/>
        <dsp:cNvSpPr/>
      </dsp:nvSpPr>
      <dsp:spPr>
        <a:xfrm>
          <a:off x="2087706" y="936654"/>
          <a:ext cx="1932912" cy="2319495"/>
        </a:xfrm>
        <a:prstGeom prst="rect">
          <a:avLst/>
        </a:prstGeom>
        <a:solidFill>
          <a:schemeClr val="accent2">
            <a:hueOff val="1560506"/>
            <a:satOff val="-1946"/>
            <a:lumOff val="458"/>
            <a:alphaOff val="0"/>
          </a:schemeClr>
        </a:solidFill>
        <a:ln w="25400" cap="flat" cmpd="sng" algn="ctr">
          <a:solidFill>
            <a:schemeClr val="accent2">
              <a:hueOff val="1560506"/>
              <a:satOff val="-1946"/>
              <a:lumOff val="458"/>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929" tIns="0" rIns="190929" bIns="330200" numCol="1" spcCol="1270" anchor="t" anchorCtr="0">
          <a:noAutofit/>
        </a:bodyPr>
        <a:lstStyle/>
        <a:p>
          <a:pPr marL="0" lvl="0" indent="0" algn="l" defTabSz="488950">
            <a:lnSpc>
              <a:spcPct val="90000"/>
            </a:lnSpc>
            <a:spcBef>
              <a:spcPct val="0"/>
            </a:spcBef>
            <a:spcAft>
              <a:spcPct val="35000"/>
            </a:spcAft>
            <a:buNone/>
            <a:defRPr cap="all"/>
          </a:pPr>
          <a:r>
            <a:rPr lang="en-US" sz="1100" kern="1200"/>
            <a:t>Body Analysis: check if it contains malicious links or attachments.</a:t>
          </a:r>
        </a:p>
      </dsp:txBody>
      <dsp:txXfrm>
        <a:off x="2087706" y="1864452"/>
        <a:ext cx="1932912" cy="1391697"/>
      </dsp:txXfrm>
    </dsp:sp>
    <dsp:sp modelId="{2CB8AE20-2D01-4472-814D-4C1D12EDFFF9}">
      <dsp:nvSpPr>
        <dsp:cNvPr id="0" name=""/>
        <dsp:cNvSpPr/>
      </dsp:nvSpPr>
      <dsp:spPr>
        <a:xfrm>
          <a:off x="2087706" y="936654"/>
          <a:ext cx="1932912" cy="927798"/>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90929" tIns="165100" rIns="190929" bIns="165100" numCol="1" spcCol="1270" anchor="ctr" anchorCtr="0">
          <a:noAutofit/>
        </a:bodyPr>
        <a:lstStyle/>
        <a:p>
          <a:pPr marL="0" lvl="0" indent="0" algn="l" defTabSz="1866900">
            <a:lnSpc>
              <a:spcPct val="90000"/>
            </a:lnSpc>
            <a:spcBef>
              <a:spcPct val="0"/>
            </a:spcBef>
            <a:spcAft>
              <a:spcPct val="35000"/>
            </a:spcAft>
            <a:buNone/>
          </a:pPr>
          <a:r>
            <a:rPr lang="en-US" sz="4200" kern="1200"/>
            <a:t>02</a:t>
          </a:r>
        </a:p>
      </dsp:txBody>
      <dsp:txXfrm>
        <a:off x="2087706" y="936654"/>
        <a:ext cx="1932912" cy="927798"/>
      </dsp:txXfrm>
    </dsp:sp>
    <dsp:sp modelId="{C6F3890D-7F9D-4B71-AE9E-3C03BF73C368}">
      <dsp:nvSpPr>
        <dsp:cNvPr id="0" name=""/>
        <dsp:cNvSpPr/>
      </dsp:nvSpPr>
      <dsp:spPr>
        <a:xfrm>
          <a:off x="4175252" y="936654"/>
          <a:ext cx="1932912" cy="2319495"/>
        </a:xfrm>
        <a:prstGeom prst="rect">
          <a:avLst/>
        </a:prstGeom>
        <a:solidFill>
          <a:schemeClr val="accent2">
            <a:hueOff val="3121013"/>
            <a:satOff val="-3893"/>
            <a:lumOff val="915"/>
            <a:alphaOff val="0"/>
          </a:schemeClr>
        </a:solidFill>
        <a:ln w="25400" cap="flat" cmpd="sng" algn="ctr">
          <a:solidFill>
            <a:schemeClr val="accent2">
              <a:hueOff val="3121013"/>
              <a:satOff val="-3893"/>
              <a:lumOff val="915"/>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929" tIns="0" rIns="190929" bIns="330200" numCol="1" spcCol="1270" anchor="t" anchorCtr="0">
          <a:noAutofit/>
        </a:bodyPr>
        <a:lstStyle/>
        <a:p>
          <a:pPr marL="0" lvl="0" indent="0" algn="l" defTabSz="488950">
            <a:lnSpc>
              <a:spcPct val="90000"/>
            </a:lnSpc>
            <a:spcBef>
              <a:spcPct val="0"/>
            </a:spcBef>
            <a:spcAft>
              <a:spcPct val="35000"/>
            </a:spcAft>
            <a:buNone/>
            <a:defRPr cap="all"/>
          </a:pPr>
          <a:r>
            <a:rPr lang="en-US" sz="1100" kern="1200" dirty="0"/>
            <a:t>verify the legitimacy of the email by checking for any discrepancies in SPF, DKIM, or DMARC authentication.</a:t>
          </a:r>
        </a:p>
      </dsp:txBody>
      <dsp:txXfrm>
        <a:off x="4175252" y="1864452"/>
        <a:ext cx="1932912" cy="1391697"/>
      </dsp:txXfrm>
    </dsp:sp>
    <dsp:sp modelId="{A68C6334-08A9-4599-B027-72988E9AF253}">
      <dsp:nvSpPr>
        <dsp:cNvPr id="0" name=""/>
        <dsp:cNvSpPr/>
      </dsp:nvSpPr>
      <dsp:spPr>
        <a:xfrm>
          <a:off x="4175252" y="936654"/>
          <a:ext cx="1932912" cy="927798"/>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90929" tIns="165100" rIns="190929" bIns="165100" numCol="1" spcCol="1270" anchor="ctr" anchorCtr="0">
          <a:noAutofit/>
        </a:bodyPr>
        <a:lstStyle/>
        <a:p>
          <a:pPr marL="0" lvl="0" indent="0" algn="l" defTabSz="1866900">
            <a:lnSpc>
              <a:spcPct val="90000"/>
            </a:lnSpc>
            <a:spcBef>
              <a:spcPct val="0"/>
            </a:spcBef>
            <a:spcAft>
              <a:spcPct val="35000"/>
            </a:spcAft>
            <a:buNone/>
          </a:pPr>
          <a:r>
            <a:rPr lang="en-US" sz="4200" kern="1200"/>
            <a:t>03</a:t>
          </a:r>
        </a:p>
      </dsp:txBody>
      <dsp:txXfrm>
        <a:off x="4175252" y="936654"/>
        <a:ext cx="1932912" cy="927798"/>
      </dsp:txXfrm>
    </dsp:sp>
    <dsp:sp modelId="{477A40A2-32EB-465B-A449-037AAFB83470}">
      <dsp:nvSpPr>
        <dsp:cNvPr id="0" name=""/>
        <dsp:cNvSpPr/>
      </dsp:nvSpPr>
      <dsp:spPr>
        <a:xfrm>
          <a:off x="6262797" y="936654"/>
          <a:ext cx="1932912" cy="2319495"/>
        </a:xfrm>
        <a:prstGeom prst="rect">
          <a:avLst/>
        </a:prstGeom>
        <a:solidFill>
          <a:schemeClr val="accent2">
            <a:hueOff val="4681519"/>
            <a:satOff val="-5839"/>
            <a:lumOff val="1373"/>
            <a:alphaOff val="0"/>
          </a:schemeClr>
        </a:solidFill>
        <a:ln w="25400" cap="flat" cmpd="sng" algn="ctr">
          <a:solidFill>
            <a:schemeClr val="accent2">
              <a:hueOff val="4681519"/>
              <a:satOff val="-5839"/>
              <a:lumOff val="137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929" tIns="0" rIns="190929" bIns="330200" numCol="1" spcCol="1270" anchor="t" anchorCtr="0">
          <a:noAutofit/>
        </a:bodyPr>
        <a:lstStyle/>
        <a:p>
          <a:pPr marL="0" lvl="0" indent="0" algn="l" defTabSz="488950">
            <a:lnSpc>
              <a:spcPct val="90000"/>
            </a:lnSpc>
            <a:spcBef>
              <a:spcPct val="0"/>
            </a:spcBef>
            <a:spcAft>
              <a:spcPct val="35000"/>
            </a:spcAft>
            <a:buNone/>
            <a:defRPr cap="all"/>
          </a:pPr>
          <a:r>
            <a:rPr lang="en-US" sz="1100" kern="1200"/>
            <a:t>Review the detailed threat detection logs, which show whether any anti-phishing, anti-malware, or safe links policies were triggered.</a:t>
          </a:r>
        </a:p>
      </dsp:txBody>
      <dsp:txXfrm>
        <a:off x="6262797" y="1864452"/>
        <a:ext cx="1932912" cy="1391697"/>
      </dsp:txXfrm>
    </dsp:sp>
    <dsp:sp modelId="{FFD802F6-8419-47CE-9354-E0F3B0D6FE57}">
      <dsp:nvSpPr>
        <dsp:cNvPr id="0" name=""/>
        <dsp:cNvSpPr/>
      </dsp:nvSpPr>
      <dsp:spPr>
        <a:xfrm>
          <a:off x="6262797" y="936654"/>
          <a:ext cx="1932912" cy="927798"/>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90929" tIns="165100" rIns="190929" bIns="165100" numCol="1" spcCol="1270" anchor="ctr" anchorCtr="0">
          <a:noAutofit/>
        </a:bodyPr>
        <a:lstStyle/>
        <a:p>
          <a:pPr marL="0" lvl="0" indent="0" algn="l" defTabSz="1866900">
            <a:lnSpc>
              <a:spcPct val="90000"/>
            </a:lnSpc>
            <a:spcBef>
              <a:spcPct val="0"/>
            </a:spcBef>
            <a:spcAft>
              <a:spcPct val="35000"/>
            </a:spcAft>
            <a:buNone/>
          </a:pPr>
          <a:r>
            <a:rPr lang="en-US" sz="4200" kern="1200"/>
            <a:t>04</a:t>
          </a:r>
        </a:p>
      </dsp:txBody>
      <dsp:txXfrm>
        <a:off x="6262797" y="936654"/>
        <a:ext cx="1932912" cy="92779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A13663-743A-4D94-AF3D-AA4B2C524D70}">
      <dsp:nvSpPr>
        <dsp:cNvPr id="0" name=""/>
        <dsp:cNvSpPr/>
      </dsp:nvSpPr>
      <dsp:spPr>
        <a:xfrm>
          <a:off x="0" y="717"/>
          <a:ext cx="4726201"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99EB9C9-8CE4-42CE-A6C3-E38BA095688D}">
      <dsp:nvSpPr>
        <dsp:cNvPr id="0" name=""/>
        <dsp:cNvSpPr/>
      </dsp:nvSpPr>
      <dsp:spPr>
        <a:xfrm>
          <a:off x="0" y="717"/>
          <a:ext cx="4726201" cy="11754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Enable Anti-Phishing Policies: Safe Links, Safe Attachments, and Impersonation Protection.</a:t>
          </a:r>
        </a:p>
      </dsp:txBody>
      <dsp:txXfrm>
        <a:off x="0" y="717"/>
        <a:ext cx="4726201" cy="1175474"/>
      </dsp:txXfrm>
    </dsp:sp>
    <dsp:sp modelId="{81416EA1-11C3-4E26-AAF6-71F093C00A24}">
      <dsp:nvSpPr>
        <dsp:cNvPr id="0" name=""/>
        <dsp:cNvSpPr/>
      </dsp:nvSpPr>
      <dsp:spPr>
        <a:xfrm>
          <a:off x="0" y="1176192"/>
          <a:ext cx="4726201" cy="0"/>
        </a:xfrm>
        <a:prstGeom prst="line">
          <a:avLst/>
        </a:prstGeom>
        <a:solidFill>
          <a:schemeClr val="accent2">
            <a:hueOff val="1170380"/>
            <a:satOff val="-1460"/>
            <a:lumOff val="343"/>
            <a:alphaOff val="0"/>
          </a:schemeClr>
        </a:solidFill>
        <a:ln w="25400" cap="flat" cmpd="sng" algn="ctr">
          <a:solidFill>
            <a:schemeClr val="accent2">
              <a:hueOff val="1170380"/>
              <a:satOff val="-1460"/>
              <a:lumOff val="34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6A996BF-445B-4DEA-869E-28912BE5B274}">
      <dsp:nvSpPr>
        <dsp:cNvPr id="0" name=""/>
        <dsp:cNvSpPr/>
      </dsp:nvSpPr>
      <dsp:spPr>
        <a:xfrm>
          <a:off x="0" y="1176192"/>
          <a:ext cx="4726201" cy="11754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Block the domain using tenant allow/block list in Defender portal</a:t>
          </a:r>
        </a:p>
      </dsp:txBody>
      <dsp:txXfrm>
        <a:off x="0" y="1176192"/>
        <a:ext cx="4726201" cy="1175474"/>
      </dsp:txXfrm>
    </dsp:sp>
    <dsp:sp modelId="{1BCD73D8-E483-4AD3-A33E-525CA77EDD99}">
      <dsp:nvSpPr>
        <dsp:cNvPr id="0" name=""/>
        <dsp:cNvSpPr/>
      </dsp:nvSpPr>
      <dsp:spPr>
        <a:xfrm>
          <a:off x="0" y="2351667"/>
          <a:ext cx="4726201" cy="0"/>
        </a:xfrm>
        <a:prstGeom prst="line">
          <a:avLst/>
        </a:prstGeom>
        <a:solidFill>
          <a:schemeClr val="accent2">
            <a:hueOff val="2340759"/>
            <a:satOff val="-2919"/>
            <a:lumOff val="686"/>
            <a:alphaOff val="0"/>
          </a:schemeClr>
        </a:solidFill>
        <a:ln w="25400" cap="flat" cmpd="sng" algn="ctr">
          <a:solidFill>
            <a:schemeClr val="accent2">
              <a:hueOff val="2340759"/>
              <a:satOff val="-2919"/>
              <a:lumOff val="68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C41893A-6071-452C-AE74-AA065C2C10B8}">
      <dsp:nvSpPr>
        <dsp:cNvPr id="0" name=""/>
        <dsp:cNvSpPr/>
      </dsp:nvSpPr>
      <dsp:spPr>
        <a:xfrm>
          <a:off x="0" y="2351667"/>
          <a:ext cx="4726201" cy="11754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Enforce MFA for all users.</a:t>
          </a:r>
        </a:p>
      </dsp:txBody>
      <dsp:txXfrm>
        <a:off x="0" y="2351667"/>
        <a:ext cx="4726201" cy="1175474"/>
      </dsp:txXfrm>
    </dsp:sp>
    <dsp:sp modelId="{843C4EFD-8598-4BA7-A106-59C7B2D8C3F3}">
      <dsp:nvSpPr>
        <dsp:cNvPr id="0" name=""/>
        <dsp:cNvSpPr/>
      </dsp:nvSpPr>
      <dsp:spPr>
        <a:xfrm>
          <a:off x="0" y="3527141"/>
          <a:ext cx="4726201" cy="0"/>
        </a:xfrm>
        <a:prstGeom prst="line">
          <a:avLst/>
        </a:prstGeom>
        <a:solidFill>
          <a:schemeClr val="accent2">
            <a:hueOff val="3511139"/>
            <a:satOff val="-4379"/>
            <a:lumOff val="1030"/>
            <a:alphaOff val="0"/>
          </a:schemeClr>
        </a:solidFill>
        <a:ln w="25400" cap="flat" cmpd="sng" algn="ctr">
          <a:solidFill>
            <a:schemeClr val="accent2">
              <a:hueOff val="3511139"/>
              <a:satOff val="-4379"/>
              <a:lumOff val="103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97F1519-C398-48FE-8F93-E8103E0C7D5F}">
      <dsp:nvSpPr>
        <dsp:cNvPr id="0" name=""/>
        <dsp:cNvSpPr/>
      </dsp:nvSpPr>
      <dsp:spPr>
        <a:xfrm>
          <a:off x="0" y="3527141"/>
          <a:ext cx="4726201" cy="11754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Review and update  email authentication protocols SPF, DKIM, and DMARC settings for email authentication.</a:t>
          </a:r>
        </a:p>
      </dsp:txBody>
      <dsp:txXfrm>
        <a:off x="0" y="3527141"/>
        <a:ext cx="4726201" cy="1175474"/>
      </dsp:txXfrm>
    </dsp:sp>
    <dsp:sp modelId="{2156C1BA-AC15-48B7-87B8-FAD27C5B69C8}">
      <dsp:nvSpPr>
        <dsp:cNvPr id="0" name=""/>
        <dsp:cNvSpPr/>
      </dsp:nvSpPr>
      <dsp:spPr>
        <a:xfrm>
          <a:off x="0" y="4702616"/>
          <a:ext cx="4726201" cy="0"/>
        </a:xfrm>
        <a:prstGeom prst="line">
          <a:avLst/>
        </a:prstGeom>
        <a:solidFill>
          <a:schemeClr val="accent2">
            <a:hueOff val="4681519"/>
            <a:satOff val="-5839"/>
            <a:lumOff val="1373"/>
            <a:alphaOff val="0"/>
          </a:schemeClr>
        </a:solidFill>
        <a:ln w="25400" cap="flat" cmpd="sng" algn="ctr">
          <a:solidFill>
            <a:schemeClr val="accent2">
              <a:hueOff val="4681519"/>
              <a:satOff val="-5839"/>
              <a:lumOff val="137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7C5F591-50C3-4355-95D8-9069C5191D25}">
      <dsp:nvSpPr>
        <dsp:cNvPr id="0" name=""/>
        <dsp:cNvSpPr/>
      </dsp:nvSpPr>
      <dsp:spPr>
        <a:xfrm>
          <a:off x="0" y="4702616"/>
          <a:ext cx="4726201" cy="11754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Regular phishing awareness and reporting processes training for the end users</a:t>
          </a:r>
        </a:p>
      </dsp:txBody>
      <dsp:txXfrm>
        <a:off x="0" y="4702616"/>
        <a:ext cx="4726201" cy="1175474"/>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FF2179-E803-4BFD-A41B-49AD64FB0CFA}" type="datetimeFigureOut">
              <a:rPr lang="en-GB" smtClean="0"/>
              <a:t>21/10/2024</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614DC8-7546-4D7A-BD01-B49527B407A5}" type="slidenum">
              <a:rPr lang="en-GB" smtClean="0"/>
              <a:t>‹#›</a:t>
            </a:fld>
            <a:endParaRPr lang="en-GB"/>
          </a:p>
        </p:txBody>
      </p:sp>
    </p:spTree>
    <p:extLst>
      <p:ext uri="{BB962C8B-B14F-4D97-AF65-F5344CB8AC3E}">
        <p14:creationId xmlns:p14="http://schemas.microsoft.com/office/powerpoint/2010/main" val="1649598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1200"/>
              </a:spcBef>
              <a:spcAft>
                <a:spcPts val="1200"/>
              </a:spcAft>
            </a:pPr>
            <a:r>
              <a:rPr lang="en-US" sz="1800" b="0" i="0" u="none" strike="noStrike" dirty="0">
                <a:solidFill>
                  <a:srgbClr val="000000"/>
                </a:solidFill>
                <a:effectLst/>
                <a:latin typeface="Calibri" panose="020F0502020204030204" pitchFamily="34" charset="0"/>
              </a:rPr>
              <a:t>Email threats, such as phishing, can lead to data breaches, financial loss, and compromised accounts, When a customer reports a suspicious email received in their inbox, it's important to approach the situation with caution and take appropriate diagnostic and preventive measures.</a:t>
            </a:r>
            <a:endParaRPr lang="en-US" b="0" dirty="0">
              <a:effectLst/>
            </a:endParaRPr>
          </a:p>
          <a:p>
            <a:br>
              <a:rPr lang="en-US" dirty="0"/>
            </a:br>
            <a:endParaRPr lang="en-GB" dirty="0"/>
          </a:p>
        </p:txBody>
      </p:sp>
      <p:sp>
        <p:nvSpPr>
          <p:cNvPr id="4" name="Slide Number Placeholder 3"/>
          <p:cNvSpPr>
            <a:spLocks noGrp="1"/>
          </p:cNvSpPr>
          <p:nvPr>
            <p:ph type="sldNum" sz="quarter" idx="5"/>
          </p:nvPr>
        </p:nvSpPr>
        <p:spPr/>
        <p:txBody>
          <a:bodyPr/>
          <a:lstStyle/>
          <a:p>
            <a:fld id="{5F614DC8-7546-4D7A-BD01-B49527B407A5}" type="slidenum">
              <a:rPr lang="en-GB" smtClean="0"/>
              <a:t>2</a:t>
            </a:fld>
            <a:endParaRPr lang="en-GB"/>
          </a:p>
        </p:txBody>
      </p:sp>
    </p:spTree>
    <p:extLst>
      <p:ext uri="{BB962C8B-B14F-4D97-AF65-F5344CB8AC3E}">
        <p14:creationId xmlns:p14="http://schemas.microsoft.com/office/powerpoint/2010/main" val="5290543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F614DC8-7546-4D7A-BD01-B49527B407A5}" type="slidenum">
              <a:rPr lang="en-GB" smtClean="0"/>
              <a:t>3</a:t>
            </a:fld>
            <a:endParaRPr lang="en-GB"/>
          </a:p>
        </p:txBody>
      </p:sp>
    </p:spTree>
    <p:extLst>
      <p:ext uri="{BB962C8B-B14F-4D97-AF65-F5344CB8AC3E}">
        <p14:creationId xmlns:p14="http://schemas.microsoft.com/office/powerpoint/2010/main" val="34587675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When a customer reports suspicious email to IT , the IT response or my response should be to </a:t>
            </a:r>
            <a:r>
              <a:rPr lang="en-US" sz="1800" b="0" i="0" u="none" strike="noStrike" dirty="0">
                <a:solidFill>
                  <a:srgbClr val="000000"/>
                </a:solidFill>
                <a:effectLst/>
                <a:latin typeface="Calibri" panose="020F0502020204030204" pitchFamily="34" charset="0"/>
              </a:rPr>
              <a:t> Advise the customer not to click on any links, download attachments, or respond to the suspicious email. And to report is a junk using the feature available in outlook</a:t>
            </a:r>
          </a:p>
          <a:p>
            <a:endParaRPr lang="en-GB" dirty="0"/>
          </a:p>
        </p:txBody>
      </p:sp>
      <p:sp>
        <p:nvSpPr>
          <p:cNvPr id="4" name="Slide Number Placeholder 3"/>
          <p:cNvSpPr>
            <a:spLocks noGrp="1"/>
          </p:cNvSpPr>
          <p:nvPr>
            <p:ph type="sldNum" sz="quarter" idx="5"/>
          </p:nvPr>
        </p:nvSpPr>
        <p:spPr/>
        <p:txBody>
          <a:bodyPr/>
          <a:lstStyle/>
          <a:p>
            <a:fld id="{5F614DC8-7546-4D7A-BD01-B49527B407A5}" type="slidenum">
              <a:rPr lang="en-GB" smtClean="0"/>
              <a:t>4</a:t>
            </a:fld>
            <a:endParaRPr lang="en-GB"/>
          </a:p>
        </p:txBody>
      </p:sp>
    </p:spTree>
    <p:extLst>
      <p:ext uri="{BB962C8B-B14F-4D97-AF65-F5344CB8AC3E}">
        <p14:creationId xmlns:p14="http://schemas.microsoft.com/office/powerpoint/2010/main" val="30940778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Windows defender &gt;explorer </a:t>
            </a:r>
            <a:endParaRPr lang="en-GB" dirty="0"/>
          </a:p>
        </p:txBody>
      </p:sp>
      <p:sp>
        <p:nvSpPr>
          <p:cNvPr id="4" name="Slide Number Placeholder 3"/>
          <p:cNvSpPr>
            <a:spLocks noGrp="1"/>
          </p:cNvSpPr>
          <p:nvPr>
            <p:ph type="sldNum" sz="quarter" idx="5"/>
          </p:nvPr>
        </p:nvSpPr>
        <p:spPr/>
        <p:txBody>
          <a:bodyPr/>
          <a:lstStyle/>
          <a:p>
            <a:fld id="{5F614DC8-7546-4D7A-BD01-B49527B407A5}" type="slidenum">
              <a:rPr lang="en-GB" smtClean="0"/>
              <a:t>5</a:t>
            </a:fld>
            <a:endParaRPr lang="en-GB"/>
          </a:p>
        </p:txBody>
      </p:sp>
    </p:spTree>
    <p:extLst>
      <p:ext uri="{BB962C8B-B14F-4D97-AF65-F5344CB8AC3E}">
        <p14:creationId xmlns:p14="http://schemas.microsoft.com/office/powerpoint/2010/main" val="16937747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Header </a:t>
            </a:r>
            <a:r>
              <a:rPr lang="en-US" dirty="0" err="1"/>
              <a:t>analyser</a:t>
            </a:r>
            <a:r>
              <a:rPr lang="en-US" dirty="0"/>
              <a:t>:</a:t>
            </a:r>
          </a:p>
          <a:p>
            <a:r>
              <a:rPr lang="en-US" dirty="0"/>
              <a:t>senders email address</a:t>
            </a:r>
          </a:p>
          <a:p>
            <a:r>
              <a:rPr lang="en-US" dirty="0"/>
              <a:t>senders </a:t>
            </a:r>
            <a:r>
              <a:rPr lang="en-US" dirty="0" err="1"/>
              <a:t>ip</a:t>
            </a:r>
            <a:r>
              <a:rPr lang="en-US" dirty="0"/>
              <a:t> address</a:t>
            </a:r>
          </a:p>
          <a:p>
            <a:r>
              <a:rPr lang="en-US" dirty="0"/>
              <a:t>subject </a:t>
            </a:r>
            <a:r>
              <a:rPr lang="en-US" dirty="0" err="1"/>
              <a:t>linne</a:t>
            </a:r>
            <a:endParaRPr lang="en-US" dirty="0"/>
          </a:p>
          <a:p>
            <a:r>
              <a:rPr lang="en-US" dirty="0"/>
              <a:t>reply to email if any</a:t>
            </a:r>
          </a:p>
          <a:p>
            <a:endParaRPr lang="en-US" dirty="0"/>
          </a:p>
          <a:p>
            <a:endParaRPr lang="en-US" dirty="0"/>
          </a:p>
          <a:p>
            <a:r>
              <a:rPr lang="en-US" dirty="0"/>
              <a:t>body</a:t>
            </a:r>
          </a:p>
          <a:p>
            <a:endParaRPr lang="en-US" dirty="0"/>
          </a:p>
          <a:p>
            <a:endParaRPr lang="en-GB" dirty="0"/>
          </a:p>
        </p:txBody>
      </p:sp>
      <p:sp>
        <p:nvSpPr>
          <p:cNvPr id="4" name="Slide Number Placeholder 3"/>
          <p:cNvSpPr>
            <a:spLocks noGrp="1"/>
          </p:cNvSpPr>
          <p:nvPr>
            <p:ph type="sldNum" sz="quarter" idx="5"/>
          </p:nvPr>
        </p:nvSpPr>
        <p:spPr/>
        <p:txBody>
          <a:bodyPr/>
          <a:lstStyle/>
          <a:p>
            <a:fld id="{5F614DC8-7546-4D7A-BD01-B49527B407A5}" type="slidenum">
              <a:rPr lang="en-GB" smtClean="0"/>
              <a:t>8</a:t>
            </a:fld>
            <a:endParaRPr lang="en-GB"/>
          </a:p>
        </p:txBody>
      </p:sp>
    </p:spTree>
    <p:extLst>
      <p:ext uri="{BB962C8B-B14F-4D97-AF65-F5344CB8AC3E}">
        <p14:creationId xmlns:p14="http://schemas.microsoft.com/office/powerpoint/2010/main" val="26183174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It gives more details about the file which office365 found after detonation in a secure environment . It also calculates the hash of the file and compares it with the malicious files databases . It’s a unique string of number every file can have, and it is used to check the integrity of the file</a:t>
            </a:r>
          </a:p>
          <a:p>
            <a:endParaRPr lang="en-GB" dirty="0"/>
          </a:p>
          <a:p>
            <a:r>
              <a:rPr lang="en-US" dirty="0"/>
              <a:t>Perform reverse lookup of the senders </a:t>
            </a:r>
            <a:r>
              <a:rPr lang="en-US" dirty="0" err="1"/>
              <a:t>ip</a:t>
            </a:r>
            <a:r>
              <a:rPr lang="en-US" dirty="0"/>
              <a:t> address to compare it with the domain</a:t>
            </a:r>
          </a:p>
          <a:p>
            <a:endParaRPr lang="en-US" dirty="0"/>
          </a:p>
          <a:p>
            <a:r>
              <a:rPr lang="en-US" dirty="0"/>
              <a:t>It also calculates the hash value of the files hash type md5 or sha256</a:t>
            </a:r>
          </a:p>
          <a:p>
            <a:endParaRPr lang="en-US" dirty="0"/>
          </a:p>
          <a:p>
            <a:r>
              <a:rPr lang="en-US" dirty="0"/>
              <a:t>check the file reputation using their hash type using </a:t>
            </a:r>
            <a:r>
              <a:rPr lang="en-US" dirty="0" err="1"/>
              <a:t>thrid</a:t>
            </a:r>
            <a:r>
              <a:rPr lang="en-US" dirty="0"/>
              <a:t> party tools available online like https://www.talosintelligence.com/talos_file_reputation , reversing labs</a:t>
            </a:r>
          </a:p>
          <a:p>
            <a:endParaRPr lang="en-GB" dirty="0"/>
          </a:p>
        </p:txBody>
      </p:sp>
      <p:sp>
        <p:nvSpPr>
          <p:cNvPr id="4" name="Slide Number Placeholder 3"/>
          <p:cNvSpPr>
            <a:spLocks noGrp="1"/>
          </p:cNvSpPr>
          <p:nvPr>
            <p:ph type="sldNum" sz="quarter" idx="5"/>
          </p:nvPr>
        </p:nvSpPr>
        <p:spPr/>
        <p:txBody>
          <a:bodyPr/>
          <a:lstStyle/>
          <a:p>
            <a:fld id="{5F614DC8-7546-4D7A-BD01-B49527B407A5}" type="slidenum">
              <a:rPr lang="en-GB" smtClean="0"/>
              <a:t>10</a:t>
            </a:fld>
            <a:endParaRPr lang="en-GB"/>
          </a:p>
        </p:txBody>
      </p:sp>
    </p:spTree>
    <p:extLst>
      <p:ext uri="{BB962C8B-B14F-4D97-AF65-F5344CB8AC3E}">
        <p14:creationId xmlns:p14="http://schemas.microsoft.com/office/powerpoint/2010/main" val="16883837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Provide the indicators of compromise And the behaviour of the URL or attachment while detonating like the files dropped and </a:t>
            </a:r>
            <a:r>
              <a:rPr lang="en-GB" dirty="0" err="1"/>
              <a:t>ips</a:t>
            </a:r>
            <a:r>
              <a:rPr lang="en-GB" dirty="0"/>
              <a:t> it contacted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URL link if any </a:t>
            </a:r>
            <a:r>
              <a:rPr lang="en-US" dirty="0" err="1"/>
              <a:t>shortner</a:t>
            </a:r>
            <a:r>
              <a:rPr lang="en-US" dirty="0"/>
              <a:t> service were used</a:t>
            </a:r>
          </a:p>
          <a:p>
            <a:endParaRPr lang="en-GB" dirty="0"/>
          </a:p>
        </p:txBody>
      </p:sp>
      <p:sp>
        <p:nvSpPr>
          <p:cNvPr id="4" name="Slide Number Placeholder 3"/>
          <p:cNvSpPr>
            <a:spLocks noGrp="1"/>
          </p:cNvSpPr>
          <p:nvPr>
            <p:ph type="sldNum" sz="quarter" idx="5"/>
          </p:nvPr>
        </p:nvSpPr>
        <p:spPr/>
        <p:txBody>
          <a:bodyPr/>
          <a:lstStyle/>
          <a:p>
            <a:fld id="{5F614DC8-7546-4D7A-BD01-B49527B407A5}" type="slidenum">
              <a:rPr lang="en-GB" smtClean="0"/>
              <a:t>11</a:t>
            </a:fld>
            <a:endParaRPr lang="en-GB"/>
          </a:p>
        </p:txBody>
      </p:sp>
    </p:spTree>
    <p:extLst>
      <p:ext uri="{BB962C8B-B14F-4D97-AF65-F5344CB8AC3E}">
        <p14:creationId xmlns:p14="http://schemas.microsoft.com/office/powerpoint/2010/main" val="29158607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email is detected as false positive or false negative or if you’re uncertain about the threat level of the email. you can always submit the email to Microsoft for further investigation via threat explorer</a:t>
            </a:r>
            <a:endParaRPr lang="en-GB" dirty="0"/>
          </a:p>
        </p:txBody>
      </p:sp>
      <p:sp>
        <p:nvSpPr>
          <p:cNvPr id="4" name="Slide Number Placeholder 3"/>
          <p:cNvSpPr>
            <a:spLocks noGrp="1"/>
          </p:cNvSpPr>
          <p:nvPr>
            <p:ph type="sldNum" sz="quarter" idx="5"/>
          </p:nvPr>
        </p:nvSpPr>
        <p:spPr/>
        <p:txBody>
          <a:bodyPr/>
          <a:lstStyle/>
          <a:p>
            <a:fld id="{5F614DC8-7546-4D7A-BD01-B49527B407A5}" type="slidenum">
              <a:rPr lang="en-GB" smtClean="0"/>
              <a:t>16</a:t>
            </a:fld>
            <a:endParaRPr lang="en-GB"/>
          </a:p>
        </p:txBody>
      </p:sp>
    </p:spTree>
    <p:extLst>
      <p:ext uri="{BB962C8B-B14F-4D97-AF65-F5344CB8AC3E}">
        <p14:creationId xmlns:p14="http://schemas.microsoft.com/office/powerpoint/2010/main" val="25686035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68300" rtl="0" fontAlgn="base">
              <a:spcBef>
                <a:spcPts val="1200"/>
              </a:spcBef>
              <a:spcAft>
                <a:spcPts val="0"/>
              </a:spcAft>
              <a:buFont typeface="Arial" panose="020B0604020202020204" pitchFamily="34" charset="0"/>
              <a:buChar char="•"/>
            </a:pPr>
            <a:r>
              <a:rPr lang="en-US" sz="1800" b="0" i="0" u="none" strike="noStrike" dirty="0">
                <a:solidFill>
                  <a:srgbClr val="161616"/>
                </a:solidFill>
                <a:effectLst/>
                <a:latin typeface="Arial" panose="020B0604020202020204" pitchFamily="34" charset="0"/>
              </a:rPr>
              <a:t>Latest threats—lists the most recently published or updated threat reports, along with the number of active and resolved alerts.</a:t>
            </a:r>
          </a:p>
          <a:p>
            <a:pPr marL="368300" rtl="0" fontAlgn="base">
              <a:spcBef>
                <a:spcPts val="0"/>
              </a:spcBef>
              <a:spcAft>
                <a:spcPts val="0"/>
              </a:spcAft>
              <a:buFont typeface="Arial" panose="020B0604020202020204" pitchFamily="34" charset="0"/>
              <a:buChar char="•"/>
            </a:pPr>
            <a:r>
              <a:rPr lang="en-US" sz="1800" b="0" i="0" u="none" strike="noStrike" dirty="0">
                <a:solidFill>
                  <a:srgbClr val="161616"/>
                </a:solidFill>
                <a:effectLst/>
                <a:latin typeface="Arial" panose="020B0604020202020204" pitchFamily="34" charset="0"/>
              </a:rPr>
              <a:t>High-impact threats—lists the threats that have the highest impact to your organization. This section lists threats with the highest number of active and resolved alerts first.</a:t>
            </a:r>
          </a:p>
          <a:p>
            <a:pPr marL="368300" rtl="0" fontAlgn="base">
              <a:spcBef>
                <a:spcPts val="0"/>
              </a:spcBef>
              <a:spcAft>
                <a:spcPts val="0"/>
              </a:spcAft>
              <a:buFont typeface="Arial" panose="020B0604020202020204" pitchFamily="34" charset="0"/>
              <a:buChar char="•"/>
            </a:pPr>
            <a:r>
              <a:rPr lang="en-US" sz="1800" b="0" i="0" u="none" strike="noStrike" dirty="0">
                <a:solidFill>
                  <a:srgbClr val="161616"/>
                </a:solidFill>
                <a:effectLst/>
                <a:latin typeface="Arial" panose="020B0604020202020204" pitchFamily="34" charset="0"/>
              </a:rPr>
              <a:t>Highest exposure threats—lists threats to which your organization has the highest exposure. Your exposure level to a threat is calculated using two pieces of information: how severe the vulnerabilities associated with the threat are, and how many devices in your organization could be exploited by those vulnerabilities.</a:t>
            </a:r>
          </a:p>
          <a:p>
            <a:endParaRPr lang="en-GB" dirty="0"/>
          </a:p>
        </p:txBody>
      </p:sp>
      <p:sp>
        <p:nvSpPr>
          <p:cNvPr id="4" name="Slide Number Placeholder 3"/>
          <p:cNvSpPr>
            <a:spLocks noGrp="1"/>
          </p:cNvSpPr>
          <p:nvPr>
            <p:ph type="sldNum" sz="quarter" idx="5"/>
          </p:nvPr>
        </p:nvSpPr>
        <p:spPr/>
        <p:txBody>
          <a:bodyPr/>
          <a:lstStyle/>
          <a:p>
            <a:fld id="{5F614DC8-7546-4D7A-BD01-B49527B407A5}" type="slidenum">
              <a:rPr lang="en-GB" smtClean="0"/>
              <a:t>17</a:t>
            </a:fld>
            <a:endParaRPr lang="en-GB"/>
          </a:p>
        </p:txBody>
      </p:sp>
    </p:spTree>
    <p:extLst>
      <p:ext uri="{BB962C8B-B14F-4D97-AF65-F5344CB8AC3E}">
        <p14:creationId xmlns:p14="http://schemas.microsoft.com/office/powerpoint/2010/main" val="35959210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Additional tools available for diagnostics and analysis</a:t>
            </a:r>
          </a:p>
        </p:txBody>
      </p:sp>
      <p:sp>
        <p:nvSpPr>
          <p:cNvPr id="4" name="Slide Number Placeholder 3"/>
          <p:cNvSpPr>
            <a:spLocks noGrp="1"/>
          </p:cNvSpPr>
          <p:nvPr>
            <p:ph type="sldNum" sz="quarter" idx="5"/>
          </p:nvPr>
        </p:nvSpPr>
        <p:spPr/>
        <p:txBody>
          <a:bodyPr/>
          <a:lstStyle/>
          <a:p>
            <a:fld id="{5F614DC8-7546-4D7A-BD01-B49527B407A5}" type="slidenum">
              <a:rPr lang="en-GB" smtClean="0"/>
              <a:t>19</a:t>
            </a:fld>
            <a:endParaRPr lang="en-GB"/>
          </a:p>
        </p:txBody>
      </p:sp>
    </p:spTree>
    <p:extLst>
      <p:ext uri="{BB962C8B-B14F-4D97-AF65-F5344CB8AC3E}">
        <p14:creationId xmlns:p14="http://schemas.microsoft.com/office/powerpoint/2010/main" val="7043221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9144000"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41640" y="-1720"/>
            <a:ext cx="881253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4540" y="-1291"/>
            <a:ext cx="2706134"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3923854" y="1402819"/>
            <a:ext cx="4967533" cy="3741293"/>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1040148" y="818984"/>
            <a:ext cx="4947184" cy="3268520"/>
          </a:xfrm>
        </p:spPr>
        <p:txBody>
          <a:bodyPr>
            <a:normAutofit/>
          </a:bodyPr>
          <a:lstStyle/>
          <a:p>
            <a:pPr algn="r">
              <a:defRPr sz="3200" b="1">
                <a:solidFill>
                  <a:srgbClr val="1F497D"/>
                </a:solidFill>
              </a:defRPr>
            </a:pPr>
            <a:r>
              <a:rPr lang="en-US" sz="4200">
                <a:solidFill>
                  <a:srgbClr val="FFFFFF"/>
                </a:solidFill>
              </a:rPr>
              <a:t>Investigating a Suspicious Email in Microsoft 365</a:t>
            </a:r>
          </a:p>
        </p:txBody>
      </p:sp>
      <p:sp>
        <p:nvSpPr>
          <p:cNvPr id="18" name="Rectangle 1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735" y="4480038"/>
            <a:ext cx="9134528"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448905" y="4797188"/>
            <a:ext cx="4538427" cy="1241828"/>
          </a:xfrm>
        </p:spPr>
        <p:txBody>
          <a:bodyPr>
            <a:normAutofit/>
          </a:bodyPr>
          <a:lstStyle/>
          <a:p>
            <a:pPr algn="r">
              <a:defRPr sz="2000"/>
            </a:pPr>
            <a:r>
              <a:rPr lang="en-US" sz="2000">
                <a:solidFill>
                  <a:srgbClr val="FFFFFF"/>
                </a:solidFill>
              </a:rPr>
              <a:t>Diagnostic Steps and Resolution Approach</a:t>
            </a:r>
          </a:p>
          <a:p>
            <a:pPr algn="r">
              <a:defRPr sz="2000"/>
            </a:pPr>
            <a:r>
              <a:rPr lang="en-US" sz="2000">
                <a:solidFill>
                  <a:srgbClr val="FFFFFF"/>
                </a:solidFill>
              </a:rPr>
              <a:t>Presented by: Muzammil Farooqui</a:t>
            </a:r>
          </a:p>
        </p:txBody>
      </p:sp>
      <p:sp>
        <p:nvSpPr>
          <p:cNvPr id="20" name="Rectangle 1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368117" y="2081692"/>
            <a:ext cx="6857572" cy="2694194"/>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pPr>
              <a:lnSpc>
                <a:spcPct val="90000"/>
              </a:lnSpc>
              <a:defRPr sz="3200" b="1">
                <a:solidFill>
                  <a:srgbClr val="1F497D"/>
                </a:solidFill>
              </a:defRPr>
            </a:pPr>
            <a:br>
              <a:rPr lang="en-GB" sz="1900">
                <a:solidFill>
                  <a:srgbClr val="FFFFFF"/>
                </a:solidFill>
              </a:rPr>
            </a:br>
            <a:r>
              <a:rPr lang="en-US" sz="1900">
                <a:solidFill>
                  <a:srgbClr val="FFFFFF"/>
                </a:solidFill>
              </a:rPr>
              <a:t>Why investigating suspicious emails is critical to security.</a:t>
            </a:r>
            <a:br>
              <a:rPr lang="en-US" sz="1900">
                <a:solidFill>
                  <a:srgbClr val="FFFFFF"/>
                </a:solidFill>
              </a:rPr>
            </a:br>
            <a:endParaRPr lang="en-GB" sz="1900">
              <a:solidFill>
                <a:srgbClr val="FFFFFF"/>
              </a:solidFill>
            </a:endParaRPr>
          </a:p>
        </p:txBody>
      </p:sp>
      <p:graphicFrame>
        <p:nvGraphicFramePr>
          <p:cNvPr id="32" name="Content Placeholder 2">
            <a:extLst>
              <a:ext uri="{FF2B5EF4-FFF2-40B4-BE49-F238E27FC236}">
                <a16:creationId xmlns:a16="http://schemas.microsoft.com/office/drawing/2014/main" id="{D6E94625-8ABD-4BCA-A150-FE80E041EC3A}"/>
              </a:ext>
            </a:extLst>
          </p:cNvPr>
          <p:cNvGraphicFramePr>
            <a:graphicFrameLocks noGrp="1"/>
          </p:cNvGraphicFramePr>
          <p:nvPr>
            <p:ph idx="1"/>
            <p:extLst>
              <p:ext uri="{D42A27DB-BD31-4B8C-83A1-F6EECF244321}">
                <p14:modId xmlns:p14="http://schemas.microsoft.com/office/powerpoint/2010/main" val="519930795"/>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pPr>
              <a:lnSpc>
                <a:spcPct val="90000"/>
              </a:lnSpc>
              <a:defRPr sz="3200" b="1">
                <a:solidFill>
                  <a:srgbClr val="1F497D"/>
                </a:solidFill>
              </a:defRPr>
            </a:pPr>
            <a:r>
              <a:rPr lang="en-US" sz="2700">
                <a:solidFill>
                  <a:srgbClr val="FFFFFF"/>
                </a:solidFill>
              </a:rPr>
              <a:t>Overview of tools and features available in Microsoft 365 for handling email threats.</a:t>
            </a:r>
          </a:p>
        </p:txBody>
      </p:sp>
      <p:graphicFrame>
        <p:nvGraphicFramePr>
          <p:cNvPr id="5" name="Content Placeholder 2">
            <a:extLst>
              <a:ext uri="{FF2B5EF4-FFF2-40B4-BE49-F238E27FC236}">
                <a16:creationId xmlns:a16="http://schemas.microsoft.com/office/drawing/2014/main" id="{5E3C417C-BA58-D2BF-FEFE-8E249B2A082C}"/>
              </a:ext>
            </a:extLst>
          </p:cNvPr>
          <p:cNvGraphicFramePr>
            <a:graphicFrameLocks noGrp="1"/>
          </p:cNvGraphicFramePr>
          <p:nvPr>
            <p:ph idx="1"/>
            <p:extLst>
              <p:ext uri="{D42A27DB-BD31-4B8C-83A1-F6EECF244321}">
                <p14:modId xmlns:p14="http://schemas.microsoft.com/office/powerpoint/2010/main" val="1765019462"/>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80249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pPr>
              <a:defRPr sz="3200" b="1">
                <a:solidFill>
                  <a:srgbClr val="1F497D"/>
                </a:solidFill>
              </a:defRPr>
            </a:pPr>
            <a:r>
              <a:rPr lang="en-GB" sz="3500" dirty="0">
                <a:solidFill>
                  <a:srgbClr val="FFFFFF"/>
                </a:solidFill>
              </a:rPr>
              <a:t>Immediate Customer Response</a:t>
            </a:r>
          </a:p>
        </p:txBody>
      </p:sp>
      <p:graphicFrame>
        <p:nvGraphicFramePr>
          <p:cNvPr id="5" name="Content Placeholder 2">
            <a:extLst>
              <a:ext uri="{FF2B5EF4-FFF2-40B4-BE49-F238E27FC236}">
                <a16:creationId xmlns:a16="http://schemas.microsoft.com/office/drawing/2014/main" id="{A140DAB5-AC22-D4A3-99B9-98C212C798B1}"/>
              </a:ext>
            </a:extLst>
          </p:cNvPr>
          <p:cNvGraphicFramePr>
            <a:graphicFrameLocks noGrp="1"/>
          </p:cNvGraphicFramePr>
          <p:nvPr>
            <p:ph idx="1"/>
            <p:extLst>
              <p:ext uri="{D42A27DB-BD31-4B8C-83A1-F6EECF244321}">
                <p14:modId xmlns:p14="http://schemas.microsoft.com/office/powerpoint/2010/main" val="3750736507"/>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 name="Rectangle 104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9" name="Rectangle 1048">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0" name="Rectangle 1049">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1" name="Rectangle 105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defRPr sz="3200" b="1">
                <a:solidFill>
                  <a:srgbClr val="1F497D"/>
                </a:solidFill>
              </a:defRPr>
            </a:pPr>
            <a:r>
              <a:rPr lang="en-US" sz="1900" kern="1200">
                <a:solidFill>
                  <a:srgbClr val="FFFFFF"/>
                </a:solidFill>
                <a:latin typeface="+mj-lt"/>
                <a:ea typeface="+mj-ea"/>
                <a:cs typeface="+mj-cs"/>
              </a:rPr>
              <a:t>Investigating the Suspicious Email</a:t>
            </a:r>
            <a:br>
              <a:rPr lang="en-US" sz="1900" kern="1200">
                <a:solidFill>
                  <a:srgbClr val="FFFFFF"/>
                </a:solidFill>
                <a:latin typeface="+mj-lt"/>
                <a:ea typeface="+mj-ea"/>
                <a:cs typeface="+mj-cs"/>
              </a:rPr>
            </a:br>
            <a:br>
              <a:rPr lang="en-US" sz="1900" kern="1200">
                <a:solidFill>
                  <a:srgbClr val="FFFFFF"/>
                </a:solidFill>
                <a:latin typeface="+mj-lt"/>
                <a:ea typeface="+mj-ea"/>
                <a:cs typeface="+mj-cs"/>
              </a:rPr>
            </a:br>
            <a:r>
              <a:rPr lang="en-US" sz="1900" kern="1200">
                <a:solidFill>
                  <a:srgbClr val="FFFFFF"/>
                </a:solidFill>
                <a:latin typeface="+mj-lt"/>
                <a:ea typeface="+mj-ea"/>
                <a:cs typeface="+mj-cs"/>
              </a:rPr>
              <a:t>Locate and analyse the email in Threat Explorer</a:t>
            </a:r>
          </a:p>
        </p:txBody>
      </p:sp>
      <p:pic>
        <p:nvPicPr>
          <p:cNvPr id="1026" name="Picture 2">
            <a:extLst>
              <a:ext uri="{FF2B5EF4-FFF2-40B4-BE49-F238E27FC236}">
                <a16:creationId xmlns:a16="http://schemas.microsoft.com/office/drawing/2014/main" id="{A1C861CA-6436-7BE4-D285-CFD43664D04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324168" y="2110935"/>
            <a:ext cx="8495662" cy="41628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01" name="Rectangle 2100">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102" name="Rectangle 2101">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492"/>
            <a:ext cx="9143999"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3" name="Rectangle 2102">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35"/>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4" name="Rectangle 2103">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8" y="-3783777"/>
            <a:ext cx="1576446" cy="9144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05" name="Rectangle 2104">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9075" y="986"/>
            <a:ext cx="3227567"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a:extLst>
              <a:ext uri="{FF2B5EF4-FFF2-40B4-BE49-F238E27FC236}">
                <a16:creationId xmlns:a16="http://schemas.microsoft.com/office/drawing/2014/main" id="{852B3532-4797-CA86-890C-7CD921F49F2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250754" y="1802233"/>
            <a:ext cx="5863989" cy="923579"/>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EB59B414-2322-57AD-0A37-FE1BA3A7391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202434" y="1154800"/>
            <a:ext cx="2845887" cy="30624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6A002E45-72EC-22E7-249E-A24F0E77EE70}"/>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482600" y="4423250"/>
            <a:ext cx="8178799" cy="2228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1807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5" name="Rectangle 4104">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42713" y="-1142284"/>
            <a:ext cx="68580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7" name="Rectangle 4106">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9" name="Rectangle 4108">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125298" y="-161647"/>
            <a:ext cx="4894564"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a:extLst>
              <a:ext uri="{FF2B5EF4-FFF2-40B4-BE49-F238E27FC236}">
                <a16:creationId xmlns:a16="http://schemas.microsoft.com/office/drawing/2014/main" id="{495AEAC5-36BB-1C10-B6E6-0911CB81CC1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42900" y="1272159"/>
            <a:ext cx="8458200" cy="4313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2391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pPr>
              <a:defRPr sz="3200" b="1">
                <a:solidFill>
                  <a:srgbClr val="1F497D"/>
                </a:solidFill>
              </a:defRPr>
            </a:pPr>
            <a:r>
              <a:rPr lang="en-US" sz="3500">
                <a:solidFill>
                  <a:srgbClr val="FFFFFF"/>
                </a:solidFill>
              </a:rPr>
              <a:t>Investigate for Phishing and Malware</a:t>
            </a:r>
          </a:p>
        </p:txBody>
      </p:sp>
      <p:graphicFrame>
        <p:nvGraphicFramePr>
          <p:cNvPr id="5" name="Content Placeholder 2">
            <a:extLst>
              <a:ext uri="{FF2B5EF4-FFF2-40B4-BE49-F238E27FC236}">
                <a16:creationId xmlns:a16="http://schemas.microsoft.com/office/drawing/2014/main" id="{13A84864-BEE2-5349-93B8-0AC0A661C127}"/>
              </a:ext>
            </a:extLst>
          </p:cNvPr>
          <p:cNvGraphicFramePr>
            <a:graphicFrameLocks noGrp="1"/>
          </p:cNvGraphicFramePr>
          <p:nvPr>
            <p:ph idx="1"/>
            <p:extLst>
              <p:ext uri="{D42A27DB-BD31-4B8C-83A1-F6EECF244321}">
                <p14:modId xmlns:p14="http://schemas.microsoft.com/office/powerpoint/2010/main" val="54245879"/>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846026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963BBD0-42CF-078C-1991-03EC6C5C70AD}"/>
              </a:ext>
            </a:extLst>
          </p:cNvPr>
          <p:cNvPicPr>
            <a:picLocks noChangeAspect="1"/>
          </p:cNvPicPr>
          <p:nvPr/>
        </p:nvPicPr>
        <p:blipFill>
          <a:blip r:embed="rId2"/>
          <a:stretch>
            <a:fillRect/>
          </a:stretch>
        </p:blipFill>
        <p:spPr>
          <a:xfrm>
            <a:off x="0" y="613225"/>
            <a:ext cx="9144000" cy="5143500"/>
          </a:xfrm>
          <a:prstGeom prst="rect">
            <a:avLst/>
          </a:prstGeom>
        </p:spPr>
      </p:pic>
    </p:spTree>
    <p:extLst>
      <p:ext uri="{BB962C8B-B14F-4D97-AF65-F5344CB8AC3E}">
        <p14:creationId xmlns:p14="http://schemas.microsoft.com/office/powerpoint/2010/main" val="1775328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8C220F2-F3D2-E369-ADE4-B9F9482AB5AF}"/>
              </a:ext>
            </a:extLst>
          </p:cNvPr>
          <p:cNvPicPr>
            <a:picLocks noChangeAspect="1"/>
          </p:cNvPicPr>
          <p:nvPr/>
        </p:nvPicPr>
        <p:blipFill>
          <a:blip r:embed="rId3"/>
          <a:stretch>
            <a:fillRect/>
          </a:stretch>
        </p:blipFill>
        <p:spPr>
          <a:xfrm>
            <a:off x="0" y="509802"/>
            <a:ext cx="9144000" cy="5838396"/>
          </a:xfrm>
          <a:prstGeom prst="rect">
            <a:avLst/>
          </a:prstGeom>
        </p:spPr>
      </p:pic>
    </p:spTree>
    <p:extLst>
      <p:ext uri="{BB962C8B-B14F-4D97-AF65-F5344CB8AC3E}">
        <p14:creationId xmlns:p14="http://schemas.microsoft.com/office/powerpoint/2010/main" val="1618927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79758BD7-F3E4-623F-B253-2A1205C575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4975" y="1814513"/>
            <a:ext cx="5734050" cy="322897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9FF02E4F-6AA0-8DB7-C6FA-8C3B0F55AE1D}"/>
              </a:ext>
            </a:extLst>
          </p:cNvPr>
          <p:cNvPicPr>
            <a:picLocks noChangeAspect="1"/>
          </p:cNvPicPr>
          <p:nvPr/>
        </p:nvPicPr>
        <p:blipFill>
          <a:blip r:embed="rId4"/>
          <a:stretch>
            <a:fillRect/>
          </a:stretch>
        </p:blipFill>
        <p:spPr>
          <a:xfrm>
            <a:off x="628072" y="1051796"/>
            <a:ext cx="8515927" cy="5132977"/>
          </a:xfrm>
          <a:prstGeom prst="rect">
            <a:avLst/>
          </a:prstGeom>
        </p:spPr>
      </p:pic>
    </p:spTree>
    <p:extLst>
      <p:ext uri="{BB962C8B-B14F-4D97-AF65-F5344CB8AC3E}">
        <p14:creationId xmlns:p14="http://schemas.microsoft.com/office/powerpoint/2010/main" val="6157288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49" name="Rectangle 10248">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2297" y="502020"/>
            <a:ext cx="3992787" cy="1642970"/>
          </a:xfrm>
        </p:spPr>
        <p:txBody>
          <a:bodyPr anchor="b">
            <a:normAutofit/>
          </a:bodyPr>
          <a:lstStyle/>
          <a:p>
            <a:pPr>
              <a:defRPr sz="3200" b="1">
                <a:solidFill>
                  <a:srgbClr val="1F497D"/>
                </a:solidFill>
              </a:defRPr>
            </a:pPr>
            <a:r>
              <a:rPr lang="en-GB" sz="3500" dirty="0"/>
              <a:t>Isolate and remove email</a:t>
            </a:r>
          </a:p>
        </p:txBody>
      </p:sp>
      <p:sp>
        <p:nvSpPr>
          <p:cNvPr id="3" name="Content Placeholder 2"/>
          <p:cNvSpPr>
            <a:spLocks noGrp="1"/>
          </p:cNvSpPr>
          <p:nvPr>
            <p:ph idx="1"/>
          </p:nvPr>
        </p:nvSpPr>
        <p:spPr>
          <a:xfrm>
            <a:off x="858692" y="2405894"/>
            <a:ext cx="3986392" cy="3535083"/>
          </a:xfrm>
        </p:spPr>
        <p:txBody>
          <a:bodyPr anchor="t">
            <a:normAutofit/>
          </a:bodyPr>
          <a:lstStyle/>
          <a:p>
            <a:pPr>
              <a:spcBef>
                <a:spcPts val="1200"/>
              </a:spcBef>
              <a:spcAft>
                <a:spcPts val="1200"/>
              </a:spcAft>
              <a:defRPr sz="2000"/>
            </a:pPr>
            <a:r>
              <a:rPr lang="en-US" sz="1700" b="0" i="0" u="none" strike="noStrike" dirty="0">
                <a:effectLst/>
                <a:latin typeface="Calibri" panose="020F0502020204030204" pitchFamily="34" charset="0"/>
              </a:rPr>
              <a:t>Go to </a:t>
            </a:r>
            <a:r>
              <a:rPr lang="en-US" sz="1700" b="1" i="0" u="none" strike="noStrike" dirty="0">
                <a:effectLst/>
                <a:latin typeface="Calibri" panose="020F0502020204030204" pitchFamily="34" charset="0"/>
              </a:rPr>
              <a:t>Threat Management &gt; Review &gt; Quarantine</a:t>
            </a:r>
            <a:r>
              <a:rPr lang="en-US" sz="1700" b="0" i="0" u="none" strike="noStrike" dirty="0">
                <a:effectLst/>
                <a:latin typeface="Calibri" panose="020F0502020204030204" pitchFamily="34" charset="0"/>
              </a:rPr>
              <a:t> to block further delivery or access to the email across the organization.</a:t>
            </a:r>
            <a:endParaRPr lang="en-US" sz="1700" b="1" i="0" u="none" strike="noStrike" dirty="0">
              <a:effectLst/>
              <a:latin typeface="Calibri" panose="020F0502020204030204" pitchFamily="34" charset="0"/>
            </a:endParaRPr>
          </a:p>
          <a:p>
            <a:pPr rtl="0">
              <a:spcBef>
                <a:spcPts val="1200"/>
              </a:spcBef>
              <a:spcAft>
                <a:spcPts val="1200"/>
              </a:spcAft>
              <a:defRPr sz="2000"/>
            </a:pPr>
            <a:r>
              <a:rPr lang="en-US" sz="1700" b="1" i="0" u="none" strike="noStrike" dirty="0">
                <a:effectLst/>
                <a:latin typeface="Calibri" panose="020F0502020204030204" pitchFamily="34" charset="0"/>
              </a:rPr>
              <a:t>Remove the Email</a:t>
            </a:r>
            <a:r>
              <a:rPr lang="en-US" sz="1700" b="0" i="0" u="none" strike="noStrike" dirty="0">
                <a:effectLst/>
                <a:latin typeface="Calibri" panose="020F0502020204030204" pitchFamily="34" charset="0"/>
              </a:rPr>
              <a:t>: If the email is confirmed to be malicious, use the </a:t>
            </a:r>
            <a:r>
              <a:rPr lang="en-US" sz="1700" b="1" i="0" u="none" strike="noStrike" dirty="0">
                <a:effectLst/>
                <a:latin typeface="Calibri" panose="020F0502020204030204" pitchFamily="34" charset="0"/>
              </a:rPr>
              <a:t>Threat Explorer</a:t>
            </a:r>
            <a:r>
              <a:rPr lang="en-US" sz="1700" b="0" i="0" u="none" strike="noStrike" dirty="0">
                <a:effectLst/>
                <a:latin typeface="Calibri" panose="020F0502020204030204" pitchFamily="34" charset="0"/>
              </a:rPr>
              <a:t> or PowerShell to delete it from all user mailboxes.</a:t>
            </a:r>
          </a:p>
          <a:p>
            <a:pPr marL="0" indent="0" rtl="0">
              <a:spcBef>
                <a:spcPts val="1200"/>
              </a:spcBef>
              <a:spcAft>
                <a:spcPts val="1200"/>
              </a:spcAft>
              <a:buNone/>
              <a:defRPr sz="2000"/>
            </a:pPr>
            <a:endParaRPr lang="en-US" sz="1700" b="0" dirty="0">
              <a:effectLst/>
            </a:endParaRPr>
          </a:p>
        </p:txBody>
      </p:sp>
      <p:sp>
        <p:nvSpPr>
          <p:cNvPr id="10251" name="Rectangle 10250">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5"/>
            <a:ext cx="306939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3" name="Rectangle 10252">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2"/>
            <a:ext cx="306939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55" name="Rectangle 10254">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22"/>
            <a:ext cx="3051501"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57" name="Rectangle 10256">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10"/>
            <a:ext cx="2708601"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44" name="Picture 4">
            <a:extLst>
              <a:ext uri="{FF2B5EF4-FFF2-40B4-BE49-F238E27FC236}">
                <a16:creationId xmlns:a16="http://schemas.microsoft.com/office/drawing/2014/main" id="{B407964A-922C-38A0-928E-505F1418043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306975" y="1420418"/>
            <a:ext cx="3127897" cy="40490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19797" y="586855"/>
            <a:ext cx="3172575" cy="3387497"/>
          </a:xfrm>
        </p:spPr>
        <p:txBody>
          <a:bodyPr anchor="b">
            <a:normAutofit/>
          </a:bodyPr>
          <a:lstStyle/>
          <a:p>
            <a:pPr algn="r">
              <a:defRPr sz="3200" b="1">
                <a:solidFill>
                  <a:srgbClr val="1F497D"/>
                </a:solidFill>
              </a:defRPr>
            </a:pPr>
            <a:r>
              <a:rPr lang="en-GB" sz="3500" b="1">
                <a:solidFill>
                  <a:srgbClr val="FFFFFF"/>
                </a:solidFill>
              </a:rPr>
              <a:t>Remediation steps</a:t>
            </a:r>
          </a:p>
        </p:txBody>
      </p:sp>
      <p:sp>
        <p:nvSpPr>
          <p:cNvPr id="3" name="Content Placeholder 2"/>
          <p:cNvSpPr>
            <a:spLocks noGrp="1"/>
          </p:cNvSpPr>
          <p:nvPr>
            <p:ph idx="1"/>
          </p:nvPr>
        </p:nvSpPr>
        <p:spPr>
          <a:xfrm>
            <a:off x="4877368" y="649480"/>
            <a:ext cx="3646835" cy="5546047"/>
          </a:xfrm>
        </p:spPr>
        <p:txBody>
          <a:bodyPr anchor="ctr">
            <a:noAutofit/>
          </a:bodyPr>
          <a:lstStyle/>
          <a:p>
            <a:pPr>
              <a:defRPr sz="2000"/>
            </a:pPr>
            <a:r>
              <a:rPr lang="en-US" sz="2000" dirty="0"/>
              <a:t>Check User Activity using the audit logs: Ensure the customer didn’t interact with the email.</a:t>
            </a:r>
          </a:p>
          <a:p>
            <a:pPr>
              <a:defRPr sz="2000"/>
            </a:pPr>
            <a:r>
              <a:rPr lang="en-US" sz="2000" dirty="0"/>
              <a:t>Verify Impersonation or Compromise: Check if the user has been targeted for impersonation or if their account has suspicious login attempts (e.g., foreign IP logins) via (Azure AD) Sign-ins for this investigation.</a:t>
            </a:r>
          </a:p>
          <a:p>
            <a:pPr>
              <a:defRPr sz="2000"/>
            </a:pPr>
            <a:r>
              <a:rPr lang="en-US" sz="2000" dirty="0"/>
              <a:t>Password Reset: If compromised, reset passwords and enable MFA.</a:t>
            </a:r>
          </a:p>
          <a:p>
            <a:pPr>
              <a:defRPr sz="2000"/>
            </a:pPr>
            <a:r>
              <a:rPr lang="en-US" sz="2000" dirty="0"/>
              <a:t>Ensure any malicious files download onto the user machine is removed. Perform full device scan.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268" name="Rectangle 11267">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66" name="Picture 2">
            <a:extLst>
              <a:ext uri="{FF2B5EF4-FFF2-40B4-BE49-F238E27FC236}">
                <a16:creationId xmlns:a16="http://schemas.microsoft.com/office/drawing/2014/main" id="{EB5B14B0-127E-648D-4837-A2A5D5ABF7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34700" b="-1"/>
          <a:stretch/>
        </p:blipFill>
        <p:spPr bwMode="auto">
          <a:xfrm>
            <a:off x="20" y="10"/>
            <a:ext cx="72522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1269" name="Rectangle 11268">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843764" y="0"/>
            <a:ext cx="530023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5648707" y="365125"/>
            <a:ext cx="2866642" cy="1899912"/>
          </a:xfrm>
        </p:spPr>
        <p:txBody>
          <a:bodyPr>
            <a:normAutofit/>
          </a:bodyPr>
          <a:lstStyle/>
          <a:p>
            <a:pPr>
              <a:defRPr sz="3200" b="1">
                <a:solidFill>
                  <a:srgbClr val="1F497D"/>
                </a:solidFill>
              </a:defRPr>
            </a:pPr>
            <a:r>
              <a:rPr lang="en-GB" sz="3500" b="1"/>
              <a:t>Prevent Future Incidents</a:t>
            </a:r>
          </a:p>
        </p:txBody>
      </p:sp>
      <p:sp>
        <p:nvSpPr>
          <p:cNvPr id="3" name="Content Placeholder 2"/>
          <p:cNvSpPr>
            <a:spLocks noGrp="1"/>
          </p:cNvSpPr>
          <p:nvPr>
            <p:ph idx="1"/>
          </p:nvPr>
        </p:nvSpPr>
        <p:spPr>
          <a:xfrm>
            <a:off x="5648707" y="2434201"/>
            <a:ext cx="2866642" cy="3742762"/>
          </a:xfrm>
        </p:spPr>
        <p:txBody>
          <a:bodyPr>
            <a:normAutofit/>
          </a:bodyPr>
          <a:lstStyle/>
          <a:p>
            <a:pPr marL="0" indent="0">
              <a:buNone/>
              <a:defRPr sz="2000"/>
            </a:pPr>
            <a:r>
              <a:rPr lang="en-US" sz="1700"/>
              <a:t>Block Sender/Domain: Add malicious senders to the Blocked Senders List in Exchange Online Protection (EOP).</a:t>
            </a:r>
          </a:p>
          <a:p>
            <a:pPr>
              <a:defRPr sz="2000"/>
            </a:pPr>
            <a:endParaRPr lang="en-US" sz="1700"/>
          </a:p>
          <a:p>
            <a:pPr>
              <a:defRPr sz="2000"/>
            </a:pPr>
            <a:endParaRPr lang="en-US" sz="1700"/>
          </a:p>
          <a:p>
            <a:pPr marL="0" indent="0">
              <a:buNone/>
              <a:defRPr sz="2000"/>
            </a:pPr>
            <a:endParaRPr lang="en-US" sz="17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759F9E9-6B5D-72D3-8C25-F7EB68FADFA3}"/>
              </a:ext>
            </a:extLst>
          </p:cNvPr>
          <p:cNvSpPr>
            <a:spLocks noGrp="1"/>
          </p:cNvSpPr>
          <p:nvPr>
            <p:ph type="title"/>
          </p:nvPr>
        </p:nvSpPr>
        <p:spPr>
          <a:xfrm>
            <a:off x="628650" y="1195697"/>
            <a:ext cx="2400300" cy="4238118"/>
          </a:xfrm>
        </p:spPr>
        <p:txBody>
          <a:bodyPr>
            <a:normAutofit/>
          </a:bodyPr>
          <a:lstStyle/>
          <a:p>
            <a:pPr>
              <a:defRPr sz="3200" b="1">
                <a:solidFill>
                  <a:srgbClr val="1F497D"/>
                </a:solidFill>
              </a:defRPr>
            </a:pPr>
            <a:r>
              <a:rPr lang="en-GB" sz="3200" b="1">
                <a:solidFill>
                  <a:schemeClr val="bg1"/>
                </a:solidFill>
              </a:rPr>
              <a:t>Prevent Future Incidents</a:t>
            </a:r>
          </a:p>
        </p:txBody>
      </p:sp>
      <p:grpSp>
        <p:nvGrpSpPr>
          <p:cNvPr id="37"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38" name="Freeform: Shape 37">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42" name="Oval 41">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4" name="Oval 43">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6"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47" name="Freeform: Shape 46">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3" name="Content Placeholder 2">
            <a:extLst>
              <a:ext uri="{FF2B5EF4-FFF2-40B4-BE49-F238E27FC236}">
                <a16:creationId xmlns:a16="http://schemas.microsoft.com/office/drawing/2014/main" id="{71B6F1FC-2F0D-88A3-203F-890705DEE408}"/>
              </a:ext>
            </a:extLst>
          </p:cNvPr>
          <p:cNvGraphicFramePr>
            <a:graphicFrameLocks noGrp="1"/>
          </p:cNvGraphicFramePr>
          <p:nvPr>
            <p:ph idx="1"/>
            <p:extLst>
              <p:ext uri="{D42A27DB-BD31-4B8C-83A1-F6EECF244321}">
                <p14:modId xmlns:p14="http://schemas.microsoft.com/office/powerpoint/2010/main" val="2413549363"/>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042435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303" name="Rectangle 12302">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9E1A66-6213-0C00-B6F6-D3D7E74DF807}"/>
              </a:ext>
            </a:extLst>
          </p:cNvPr>
          <p:cNvSpPr>
            <a:spLocks noGrp="1"/>
          </p:cNvSpPr>
          <p:nvPr>
            <p:ph type="title"/>
          </p:nvPr>
        </p:nvSpPr>
        <p:spPr>
          <a:xfrm>
            <a:off x="852297" y="502021"/>
            <a:ext cx="3719703" cy="1642969"/>
          </a:xfrm>
        </p:spPr>
        <p:txBody>
          <a:bodyPr anchor="b">
            <a:normAutofit/>
          </a:bodyPr>
          <a:lstStyle/>
          <a:p>
            <a:pPr>
              <a:defRPr sz="3200" b="1">
                <a:solidFill>
                  <a:srgbClr val="1F497D"/>
                </a:solidFill>
              </a:defRPr>
            </a:pPr>
            <a:r>
              <a:rPr lang="en-GB" sz="3500" b="1" i="0" u="none" strike="noStrike">
                <a:effectLst/>
                <a:latin typeface="Calibri" panose="020F0502020204030204" pitchFamily="34" charset="0"/>
              </a:rPr>
              <a:t> </a:t>
            </a:r>
            <a:r>
              <a:rPr lang="en-GB" sz="3500" b="1"/>
              <a:t>Report and Analyze Threats</a:t>
            </a:r>
          </a:p>
        </p:txBody>
      </p:sp>
      <p:sp>
        <p:nvSpPr>
          <p:cNvPr id="3" name="Content Placeholder 2">
            <a:extLst>
              <a:ext uri="{FF2B5EF4-FFF2-40B4-BE49-F238E27FC236}">
                <a16:creationId xmlns:a16="http://schemas.microsoft.com/office/drawing/2014/main" id="{BEA2C516-4EEE-ECC1-809A-E9A9E9C02730}"/>
              </a:ext>
            </a:extLst>
          </p:cNvPr>
          <p:cNvSpPr>
            <a:spLocks noGrp="1"/>
          </p:cNvSpPr>
          <p:nvPr>
            <p:ph idx="1"/>
          </p:nvPr>
        </p:nvSpPr>
        <p:spPr>
          <a:xfrm>
            <a:off x="852297" y="2418408"/>
            <a:ext cx="3719703" cy="3522569"/>
          </a:xfrm>
        </p:spPr>
        <p:txBody>
          <a:bodyPr anchor="t">
            <a:normAutofit/>
          </a:bodyPr>
          <a:lstStyle/>
          <a:p>
            <a:pPr rtl="0" fontAlgn="base">
              <a:spcBef>
                <a:spcPts val="1200"/>
              </a:spcBef>
              <a:spcAft>
                <a:spcPts val="0"/>
              </a:spcAft>
              <a:buFont typeface="Arial" panose="020B0604020202020204" pitchFamily="34" charset="0"/>
              <a:buChar char="•"/>
              <a:defRPr sz="2000"/>
            </a:pPr>
            <a:r>
              <a:rPr lang="en-US" sz="1700" b="1" i="0" u="none" strike="noStrike">
                <a:effectLst/>
                <a:latin typeface="Calibri" panose="020F0502020204030204" pitchFamily="34" charset="0"/>
              </a:rPr>
              <a:t>Submit the Email to Microsoft for Analysis</a:t>
            </a:r>
            <a:r>
              <a:rPr lang="en-US" sz="1700" b="0" i="0" u="none" strike="noStrike">
                <a:effectLst/>
                <a:latin typeface="Calibri" panose="020F0502020204030204" pitchFamily="34" charset="0"/>
              </a:rPr>
              <a:t>:</a:t>
            </a:r>
          </a:p>
          <a:p>
            <a:pPr marL="742950" lvl="1" indent="-285750" rtl="0" fontAlgn="base">
              <a:spcBef>
                <a:spcPts val="0"/>
              </a:spcBef>
              <a:spcAft>
                <a:spcPts val="1200"/>
              </a:spcAft>
              <a:buFont typeface="Arial" panose="020B0604020202020204" pitchFamily="34" charset="0"/>
              <a:buChar char="•"/>
              <a:defRPr sz="2000"/>
            </a:pPr>
            <a:r>
              <a:rPr lang="en-US" sz="1700" b="0" i="0" u="none" strike="noStrike">
                <a:effectLst/>
                <a:latin typeface="Calibri" panose="020F0502020204030204" pitchFamily="34" charset="0"/>
              </a:rPr>
              <a:t>If you're uncertain about the threat level of the email, submit the email to Microsoft for further analysis via the </a:t>
            </a:r>
            <a:r>
              <a:rPr lang="en-US" sz="1700" b="1">
                <a:latin typeface="Calibri" panose="020F0502020204030204" pitchFamily="34" charset="0"/>
              </a:rPr>
              <a:t>Threat Explorer</a:t>
            </a:r>
            <a:r>
              <a:rPr lang="en-US" sz="1700" b="0" i="0" u="none" strike="noStrike">
                <a:effectLst/>
                <a:latin typeface="Calibri" panose="020F0502020204030204" pitchFamily="34" charset="0"/>
              </a:rPr>
              <a:t>. </a:t>
            </a:r>
          </a:p>
          <a:p>
            <a:pPr>
              <a:defRPr sz="2000"/>
            </a:pPr>
            <a:endParaRPr lang="en-GB" sz="1700"/>
          </a:p>
          <a:p>
            <a:pPr>
              <a:defRPr sz="2000"/>
            </a:pPr>
            <a:endParaRPr lang="en-GB" sz="1700"/>
          </a:p>
          <a:p>
            <a:pPr>
              <a:defRPr sz="2000"/>
            </a:pPr>
            <a:endParaRPr lang="en-GB" sz="1700"/>
          </a:p>
          <a:p>
            <a:pPr>
              <a:defRPr sz="2000"/>
            </a:pPr>
            <a:endParaRPr lang="en-GB" sz="1700"/>
          </a:p>
        </p:txBody>
      </p:sp>
      <p:pic>
        <p:nvPicPr>
          <p:cNvPr id="12292" name="Picture 4">
            <a:extLst>
              <a:ext uri="{FF2B5EF4-FFF2-40B4-BE49-F238E27FC236}">
                <a16:creationId xmlns:a16="http://schemas.microsoft.com/office/drawing/2014/main" id="{D099B756-2BC2-2537-0AC0-832EE55BE34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884331" y="621610"/>
            <a:ext cx="3900767" cy="5201022"/>
          </a:xfrm>
          <a:prstGeom prst="rect">
            <a:avLst/>
          </a:prstGeom>
          <a:noFill/>
          <a:extLst>
            <a:ext uri="{909E8E84-426E-40DD-AFC4-6F175D3DCCD1}">
              <a14:hiddenFill xmlns:a14="http://schemas.microsoft.com/office/drawing/2010/main">
                <a:solidFill>
                  <a:srgbClr val="FFFFFF"/>
                </a:solidFill>
              </a14:hiddenFill>
            </a:ext>
          </a:extLst>
        </p:spPr>
      </p:pic>
      <p:sp>
        <p:nvSpPr>
          <p:cNvPr id="12304" name="Rectangle 12303">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9144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05" name="Rectangle 12304">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028950" y="6400799"/>
            <a:ext cx="611504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72652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54175-90E0-1EE6-67CC-CBADF422B2B2}"/>
              </a:ext>
            </a:extLst>
          </p:cNvPr>
          <p:cNvSpPr>
            <a:spLocks noGrp="1"/>
          </p:cNvSpPr>
          <p:nvPr>
            <p:ph type="title"/>
          </p:nvPr>
        </p:nvSpPr>
        <p:spPr/>
        <p:txBody>
          <a:bodyPr/>
          <a:lstStyle/>
          <a:p>
            <a:pPr>
              <a:defRPr sz="3200" b="1">
                <a:solidFill>
                  <a:srgbClr val="1F497D"/>
                </a:solidFill>
              </a:defRPr>
            </a:pPr>
            <a:r>
              <a:rPr lang="en-GB" sz="3200" b="1">
                <a:solidFill>
                  <a:srgbClr val="1F497D"/>
                </a:solidFill>
              </a:rPr>
              <a:t>Threat Intelligence Reporting:</a:t>
            </a:r>
            <a:endParaRPr lang="en-GB" sz="3200" b="1" dirty="0">
              <a:solidFill>
                <a:srgbClr val="1F497D"/>
              </a:solidFill>
            </a:endParaRPr>
          </a:p>
        </p:txBody>
      </p:sp>
      <p:sp>
        <p:nvSpPr>
          <p:cNvPr id="3" name="Content Placeholder 2">
            <a:extLst>
              <a:ext uri="{FF2B5EF4-FFF2-40B4-BE49-F238E27FC236}">
                <a16:creationId xmlns:a16="http://schemas.microsoft.com/office/drawing/2014/main" id="{83B5BEE4-AA6E-A5EB-88B7-4944F2AE532B}"/>
              </a:ext>
            </a:extLst>
          </p:cNvPr>
          <p:cNvSpPr>
            <a:spLocks noGrp="1"/>
          </p:cNvSpPr>
          <p:nvPr>
            <p:ph idx="1"/>
          </p:nvPr>
        </p:nvSpPr>
        <p:spPr>
          <a:xfrm>
            <a:off x="578498" y="1310951"/>
            <a:ext cx="8229600" cy="4525963"/>
          </a:xfrm>
        </p:spPr>
        <p:txBody>
          <a:bodyPr/>
          <a:lstStyle/>
          <a:p>
            <a:pPr marL="0" indent="0">
              <a:buNone/>
              <a:defRPr sz="2000"/>
            </a:pPr>
            <a:r>
              <a:rPr lang="en-US" sz="1800" b="0" i="0" u="none" strike="noStrike" dirty="0">
                <a:solidFill>
                  <a:srgbClr val="000000"/>
                </a:solidFill>
                <a:effectLst/>
                <a:latin typeface="Calibri" panose="020F0502020204030204" pitchFamily="34" charset="0"/>
              </a:rPr>
              <a:t>Use </a:t>
            </a:r>
            <a:r>
              <a:rPr lang="en-US" sz="1800" b="1" i="0" u="none" strike="noStrike" dirty="0">
                <a:solidFill>
                  <a:srgbClr val="000000"/>
                </a:solidFill>
                <a:effectLst/>
                <a:latin typeface="Calibri" panose="020F0502020204030204" pitchFamily="34" charset="0"/>
              </a:rPr>
              <a:t>Threat Intelligence</a:t>
            </a:r>
            <a:r>
              <a:rPr lang="en-US" sz="1800" b="0" i="0" u="none" strike="noStrike" dirty="0">
                <a:solidFill>
                  <a:srgbClr val="000000"/>
                </a:solidFill>
                <a:effectLst/>
                <a:latin typeface="Calibri" panose="020F0502020204030204" pitchFamily="34" charset="0"/>
              </a:rPr>
              <a:t> reports in Microsoft Defender to monitor any emerging threats or campaigns targeting the organization and take proactive steps to mitigate these risks.</a:t>
            </a:r>
          </a:p>
          <a:p>
            <a:pPr>
              <a:defRPr sz="2000"/>
            </a:pPr>
            <a:endParaRPr lang="en-GB" dirty="0"/>
          </a:p>
        </p:txBody>
      </p:sp>
      <p:pic>
        <p:nvPicPr>
          <p:cNvPr id="13314" name="Picture 2">
            <a:extLst>
              <a:ext uri="{FF2B5EF4-FFF2-40B4-BE49-F238E27FC236}">
                <a16:creationId xmlns:a16="http://schemas.microsoft.com/office/drawing/2014/main" id="{A3411E9A-7D0A-8F34-46EE-1EF5B3BFCC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3840" y="2270448"/>
            <a:ext cx="7271074" cy="41548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66063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defRPr sz="3200" b="1">
                <a:solidFill>
                  <a:srgbClr val="1F497D"/>
                </a:solidFill>
              </a:defRPr>
            </a:pPr>
            <a:r>
              <a:rPr lang="en-GB" sz="3500">
                <a:solidFill>
                  <a:srgbClr val="FFFFFF"/>
                </a:solidFill>
              </a:rPr>
              <a:t>Conclusion</a:t>
            </a:r>
          </a:p>
        </p:txBody>
      </p:sp>
      <p:sp>
        <p:nvSpPr>
          <p:cNvPr id="3" name="Content Placeholder 2"/>
          <p:cNvSpPr>
            <a:spLocks noGrp="1"/>
          </p:cNvSpPr>
          <p:nvPr>
            <p:ph idx="1"/>
          </p:nvPr>
        </p:nvSpPr>
        <p:spPr>
          <a:xfrm>
            <a:off x="1028699" y="1675537"/>
            <a:ext cx="7293023" cy="3683358"/>
          </a:xfrm>
        </p:spPr>
        <p:txBody>
          <a:bodyPr anchor="ctr">
            <a:normAutofit/>
          </a:bodyPr>
          <a:lstStyle/>
          <a:p>
            <a:pPr marL="0" indent="0">
              <a:buNone/>
              <a:defRPr sz="2000"/>
            </a:pPr>
            <a:r>
              <a:rPr lang="en-US" sz="1700" b="0" i="0" u="none" strike="noStrike" dirty="0">
                <a:effectLst/>
                <a:latin typeface="Calibri" panose="020F0502020204030204" pitchFamily="34" charset="0"/>
              </a:rPr>
              <a:t>By following these steps, you'll be able to efficiently investigate, diagnose, and remediate the suspicious email issue using the security features available in Microsoft 365</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776A22-D4CB-8E3F-5195-7B11D81705B4}"/>
              </a:ext>
            </a:extLst>
          </p:cNvPr>
          <p:cNvSpPr>
            <a:spLocks noGrp="1"/>
          </p:cNvSpPr>
          <p:nvPr>
            <p:ph type="title"/>
          </p:nvPr>
        </p:nvSpPr>
        <p:spPr>
          <a:xfrm>
            <a:off x="1028699" y="294538"/>
            <a:ext cx="7421963" cy="1033669"/>
          </a:xfrm>
        </p:spPr>
        <p:txBody>
          <a:bodyPr>
            <a:normAutofit/>
          </a:bodyPr>
          <a:lstStyle/>
          <a:p>
            <a:pPr>
              <a:defRPr sz="3200" b="1">
                <a:solidFill>
                  <a:srgbClr val="1F497D"/>
                </a:solidFill>
              </a:defRPr>
            </a:pPr>
            <a:r>
              <a:rPr lang="en-US" sz="3500">
                <a:solidFill>
                  <a:srgbClr val="FFFFFF"/>
                </a:solidFill>
              </a:rPr>
              <a:t>Email Message Trace</a:t>
            </a:r>
            <a:endParaRPr lang="en-GB" sz="3500">
              <a:solidFill>
                <a:srgbClr val="FFFFFF"/>
              </a:solidFill>
            </a:endParaRPr>
          </a:p>
        </p:txBody>
      </p:sp>
      <p:sp>
        <p:nvSpPr>
          <p:cNvPr id="3" name="Content Placeholder 2">
            <a:extLst>
              <a:ext uri="{FF2B5EF4-FFF2-40B4-BE49-F238E27FC236}">
                <a16:creationId xmlns:a16="http://schemas.microsoft.com/office/drawing/2014/main" id="{28E1CD8C-345E-C5CF-E364-AD9446AF8EA9}"/>
              </a:ext>
            </a:extLst>
          </p:cNvPr>
          <p:cNvSpPr>
            <a:spLocks noGrp="1"/>
          </p:cNvSpPr>
          <p:nvPr>
            <p:ph idx="1"/>
          </p:nvPr>
        </p:nvSpPr>
        <p:spPr>
          <a:xfrm>
            <a:off x="1028699" y="2318197"/>
            <a:ext cx="7293023" cy="3683358"/>
          </a:xfrm>
        </p:spPr>
        <p:txBody>
          <a:bodyPr anchor="ctr">
            <a:normAutofit/>
          </a:bodyPr>
          <a:lstStyle/>
          <a:p>
            <a:pPr marL="457200" rtl="0" fontAlgn="base">
              <a:spcBef>
                <a:spcPts val="1200"/>
              </a:spcBef>
              <a:spcAft>
                <a:spcPts val="0"/>
              </a:spcAft>
              <a:buFont typeface="Arial" panose="020B0604020202020204" pitchFamily="34" charset="0"/>
              <a:buChar char="•"/>
              <a:defRPr sz="2000"/>
            </a:pPr>
            <a:r>
              <a:rPr lang="en-US" sz="1700" dirty="0">
                <a:latin typeface="Calibri" panose="020F0502020204030204" pitchFamily="34" charset="0"/>
              </a:rPr>
              <a:t>T</a:t>
            </a:r>
            <a:r>
              <a:rPr lang="en-US" sz="1700" b="0" i="0" u="none" strike="noStrike" dirty="0">
                <a:effectLst/>
                <a:latin typeface="Calibri" panose="020F0502020204030204" pitchFamily="34" charset="0"/>
              </a:rPr>
              <a:t>rack the journey of the email, including delivery details, spam filters, and any threat detection policies that were applied.</a:t>
            </a:r>
          </a:p>
          <a:p>
            <a:pPr marL="457200" rtl="0" fontAlgn="base">
              <a:spcBef>
                <a:spcPts val="1200"/>
              </a:spcBef>
              <a:spcAft>
                <a:spcPts val="0"/>
              </a:spcAft>
              <a:buFont typeface="Arial" panose="020B0604020202020204" pitchFamily="34" charset="0"/>
              <a:buChar char="•"/>
              <a:defRPr sz="2000"/>
            </a:pPr>
            <a:endParaRPr lang="en-US" sz="1700" b="0" i="0" u="none" strike="noStrike" dirty="0">
              <a:effectLst/>
              <a:latin typeface="Calibri" panose="020F0502020204030204" pitchFamily="34" charset="0"/>
            </a:endParaRPr>
          </a:p>
          <a:p>
            <a:pPr marL="457200" rtl="0" fontAlgn="base">
              <a:spcBef>
                <a:spcPts val="0"/>
              </a:spcBef>
              <a:spcAft>
                <a:spcPts val="0"/>
              </a:spcAft>
              <a:buFont typeface="Arial" panose="020B0604020202020204" pitchFamily="34" charset="0"/>
              <a:buChar char="•"/>
              <a:defRPr sz="2000"/>
            </a:pPr>
            <a:r>
              <a:rPr lang="en-US" sz="1700" b="0" i="0" u="none" strike="noStrike" dirty="0">
                <a:effectLst/>
                <a:latin typeface="Calibri" panose="020F0502020204030204" pitchFamily="34" charset="0"/>
              </a:rPr>
              <a:t>Check whether the email bypassed filtering due to allowlists or custom rules.</a:t>
            </a:r>
          </a:p>
          <a:p>
            <a:pPr marL="457200" rtl="0" fontAlgn="base">
              <a:spcBef>
                <a:spcPts val="0"/>
              </a:spcBef>
              <a:spcAft>
                <a:spcPts val="0"/>
              </a:spcAft>
              <a:buFont typeface="Arial" panose="020B0604020202020204" pitchFamily="34" charset="0"/>
              <a:buChar char="•"/>
              <a:defRPr sz="2000"/>
            </a:pPr>
            <a:endParaRPr lang="en-US" sz="1700" b="0" i="0" u="none" strike="noStrike" dirty="0">
              <a:effectLst/>
              <a:latin typeface="Calibri" panose="020F0502020204030204" pitchFamily="34" charset="0"/>
            </a:endParaRPr>
          </a:p>
          <a:p>
            <a:pPr marL="457200" rtl="0" fontAlgn="base">
              <a:spcBef>
                <a:spcPts val="0"/>
              </a:spcBef>
              <a:spcAft>
                <a:spcPts val="1200"/>
              </a:spcAft>
              <a:buFont typeface="Arial" panose="020B0604020202020204" pitchFamily="34" charset="0"/>
              <a:buChar char="•"/>
              <a:defRPr sz="2000"/>
            </a:pPr>
            <a:r>
              <a:rPr lang="en-US" sz="1700" b="1" i="0" u="none" strike="noStrike" dirty="0">
                <a:effectLst/>
                <a:latin typeface="Calibri" panose="020F0502020204030204" pitchFamily="34" charset="0"/>
              </a:rPr>
              <a:t>Check Blocklists/Allowlists</a:t>
            </a:r>
            <a:r>
              <a:rPr lang="en-US" sz="1700" b="0" i="0" u="none" strike="noStrike" dirty="0">
                <a:effectLst/>
                <a:latin typeface="Calibri" panose="020F0502020204030204" pitchFamily="34" charset="0"/>
              </a:rPr>
              <a:t>: Verify if the email came from an address or domain that is on a blocklist or allowlist in your organization.</a:t>
            </a:r>
          </a:p>
          <a:p>
            <a:pPr>
              <a:defRPr sz="2000"/>
            </a:pPr>
            <a:endParaRPr lang="en-US" sz="1700" dirty="0"/>
          </a:p>
          <a:p>
            <a:pPr>
              <a:defRPr sz="2000"/>
            </a:pPr>
            <a:endParaRPr lang="en-GB" sz="1700" dirty="0"/>
          </a:p>
        </p:txBody>
      </p:sp>
    </p:spTree>
    <p:extLst>
      <p:ext uri="{BB962C8B-B14F-4D97-AF65-F5344CB8AC3E}">
        <p14:creationId xmlns:p14="http://schemas.microsoft.com/office/powerpoint/2010/main" val="12147058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a:extLst>
              <a:ext uri="{FF2B5EF4-FFF2-40B4-BE49-F238E27FC236}">
                <a16:creationId xmlns:a16="http://schemas.microsoft.com/office/drawing/2014/main" id="{242A918E-4F25-D35A-DE72-4D1754294B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2400" y="221753"/>
            <a:ext cx="6011863" cy="61218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70864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31476CEF-FBC7-97DA-9212-CAEE83981B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4975" y="1223963"/>
            <a:ext cx="5734050" cy="4410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05808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C2A08F-79FE-D38C-9F5B-5E8A183C97C2}"/>
              </a:ext>
            </a:extLst>
          </p:cNvPr>
          <p:cNvSpPr>
            <a:spLocks noGrp="1"/>
          </p:cNvSpPr>
          <p:nvPr>
            <p:ph type="title"/>
          </p:nvPr>
        </p:nvSpPr>
        <p:spPr>
          <a:xfrm>
            <a:off x="1028699" y="294538"/>
            <a:ext cx="7421963" cy="1033669"/>
          </a:xfrm>
        </p:spPr>
        <p:txBody>
          <a:bodyPr>
            <a:normAutofit/>
          </a:bodyPr>
          <a:lstStyle/>
          <a:p>
            <a:pPr>
              <a:defRPr sz="3200" b="1">
                <a:solidFill>
                  <a:srgbClr val="1F497D"/>
                </a:solidFill>
              </a:defRPr>
            </a:pPr>
            <a:r>
              <a:rPr lang="en-GB" sz="3500">
                <a:solidFill>
                  <a:srgbClr val="FFFFFF"/>
                </a:solidFill>
              </a:rPr>
              <a:t>Review quarantine and release</a:t>
            </a:r>
          </a:p>
        </p:txBody>
      </p:sp>
      <p:sp>
        <p:nvSpPr>
          <p:cNvPr id="17" name="Content Placeholder 2">
            <a:extLst>
              <a:ext uri="{FF2B5EF4-FFF2-40B4-BE49-F238E27FC236}">
                <a16:creationId xmlns:a16="http://schemas.microsoft.com/office/drawing/2014/main" id="{7A240EDA-DF15-4F16-423E-A6A1627AE28C}"/>
              </a:ext>
            </a:extLst>
          </p:cNvPr>
          <p:cNvSpPr>
            <a:spLocks noGrp="1"/>
          </p:cNvSpPr>
          <p:nvPr>
            <p:ph idx="1"/>
          </p:nvPr>
        </p:nvSpPr>
        <p:spPr>
          <a:xfrm>
            <a:off x="1028699" y="2318197"/>
            <a:ext cx="7293023" cy="3683358"/>
          </a:xfrm>
        </p:spPr>
        <p:txBody>
          <a:bodyPr anchor="ctr">
            <a:normAutofit/>
          </a:bodyPr>
          <a:lstStyle/>
          <a:p>
            <a:pPr rtl="0" fontAlgn="base">
              <a:spcBef>
                <a:spcPts val="1200"/>
              </a:spcBef>
              <a:spcAft>
                <a:spcPts val="1200"/>
              </a:spcAft>
              <a:buFont typeface="Arial" panose="020B0604020202020204" pitchFamily="34" charset="0"/>
              <a:buChar char="•"/>
              <a:defRPr sz="2000"/>
            </a:pPr>
            <a:r>
              <a:rPr lang="en-US" sz="1700" b="0" i="0" u="none" strike="noStrike">
                <a:effectLst/>
              </a:rPr>
              <a:t>If the reported email was quarantined, admins can review it by going to: </a:t>
            </a:r>
            <a:r>
              <a:rPr lang="en-US" sz="1700" b="1" i="0" u="none" strike="noStrike">
                <a:effectLst/>
              </a:rPr>
              <a:t>Microsoft 365 Defender portal</a:t>
            </a:r>
            <a:r>
              <a:rPr lang="en-US" sz="1700" b="0" i="0" u="none" strike="noStrike">
                <a:effectLst/>
              </a:rPr>
              <a:t> → </a:t>
            </a:r>
            <a:r>
              <a:rPr lang="en-US" sz="1700" b="1" i="0" u="none" strike="noStrike">
                <a:effectLst/>
              </a:rPr>
              <a:t>Email &amp; Collaboration</a:t>
            </a:r>
            <a:r>
              <a:rPr lang="en-US" sz="1700" b="0" i="0" u="none" strike="noStrike">
                <a:effectLst/>
              </a:rPr>
              <a:t> → </a:t>
            </a:r>
            <a:r>
              <a:rPr lang="en-US" sz="1700" b="1" i="0" u="none" strike="noStrike">
                <a:effectLst/>
              </a:rPr>
              <a:t>Review</a:t>
            </a:r>
            <a:r>
              <a:rPr lang="en-US" sz="1700" b="0" i="0" u="none" strike="noStrike">
                <a:effectLst/>
              </a:rPr>
              <a:t> → </a:t>
            </a:r>
            <a:r>
              <a:rPr lang="en-US" sz="1700" b="1" i="0" u="none" strike="noStrike">
                <a:effectLst/>
              </a:rPr>
              <a:t>Quarantine</a:t>
            </a:r>
            <a:r>
              <a:rPr lang="en-US" sz="1700" b="0" i="0" u="none" strike="noStrike">
                <a:effectLst/>
              </a:rPr>
              <a:t>.</a:t>
            </a:r>
          </a:p>
          <a:p>
            <a:pPr rtl="0" fontAlgn="base">
              <a:spcBef>
                <a:spcPts val="1200"/>
              </a:spcBef>
              <a:spcAft>
                <a:spcPts val="0"/>
              </a:spcAft>
              <a:buFont typeface="Arial" panose="020B0604020202020204" pitchFamily="34" charset="0"/>
              <a:buChar char="•"/>
              <a:defRPr sz="2000"/>
            </a:pPr>
            <a:r>
              <a:rPr lang="en-US" sz="1700" b="0" i="0" u="none" strike="noStrike">
                <a:effectLst/>
                <a:latin typeface="Calibri" panose="020F0502020204030204" pitchFamily="34" charset="0"/>
              </a:rPr>
              <a:t>Admins can release, delete, or block the email directly from this interface.</a:t>
            </a:r>
            <a:endParaRPr lang="en-US" sz="1700" b="0" i="0" u="none" strike="noStrike">
              <a:effectLst/>
              <a:latin typeface="Arial" panose="020B0604020202020204" pitchFamily="34" charset="0"/>
            </a:endParaRPr>
          </a:p>
          <a:p>
            <a:pPr rtl="0" fontAlgn="base">
              <a:spcBef>
                <a:spcPts val="1200"/>
              </a:spcBef>
              <a:spcAft>
                <a:spcPts val="1200"/>
              </a:spcAft>
              <a:buFont typeface="Arial" panose="020B0604020202020204" pitchFamily="34" charset="0"/>
              <a:buChar char="•"/>
              <a:defRPr sz="2000"/>
            </a:pPr>
            <a:endParaRPr lang="en-GB" sz="1700"/>
          </a:p>
        </p:txBody>
      </p:sp>
    </p:spTree>
    <p:extLst>
      <p:ext uri="{BB962C8B-B14F-4D97-AF65-F5344CB8AC3E}">
        <p14:creationId xmlns:p14="http://schemas.microsoft.com/office/powerpoint/2010/main" val="26424600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1074</Words>
  <Application>Microsoft Office PowerPoint</Application>
  <PresentationFormat>On-screen Show (4:3)</PresentationFormat>
  <Paragraphs>98</Paragraphs>
  <Slides>22</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Arial</vt:lpstr>
      <vt:lpstr>Calibri</vt:lpstr>
      <vt:lpstr>Office Theme</vt:lpstr>
      <vt:lpstr>Investigating a Suspicious Email in Microsoft 365</vt:lpstr>
      <vt:lpstr> Why investigating suspicious emails is critical to security. </vt:lpstr>
      <vt:lpstr>Overview of tools and features available in Microsoft 365 for handling email threats.</vt:lpstr>
      <vt:lpstr>Immediate Customer Response</vt:lpstr>
      <vt:lpstr>Investigating the Suspicious Email  Locate and analyse the email in Threat Explorer</vt:lpstr>
      <vt:lpstr>PowerPoint Presentation</vt:lpstr>
      <vt:lpstr>PowerPoint Presentation</vt:lpstr>
      <vt:lpstr>Investigate for Phishing and Malware</vt:lpstr>
      <vt:lpstr>PowerPoint Presentation</vt:lpstr>
      <vt:lpstr>PowerPoint Presentation</vt:lpstr>
      <vt:lpstr>PowerPoint Presentation</vt:lpstr>
      <vt:lpstr>Isolate and remove email</vt:lpstr>
      <vt:lpstr>Remediation steps</vt:lpstr>
      <vt:lpstr>Prevent Future Incidents</vt:lpstr>
      <vt:lpstr>Prevent Future Incidents</vt:lpstr>
      <vt:lpstr> Report and Analyze Threats</vt:lpstr>
      <vt:lpstr>Threat Intelligence Reporting:</vt:lpstr>
      <vt:lpstr>Conclusion</vt:lpstr>
      <vt:lpstr>Email Message Trace</vt:lpstr>
      <vt:lpstr>PowerPoint Presentation</vt:lpstr>
      <vt:lpstr>PowerPoint Presentation</vt:lpstr>
      <vt:lpstr>Review quarantine and release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Investigating a Suspicious Email in Microsoft 365</dc:title>
  <dc:subject/>
  <dc:creator/>
  <cp:keywords/>
  <dc:description>generated using python-pptx</dc:description>
  <cp:lastModifiedBy>Muzammil Farooqui</cp:lastModifiedBy>
  <cp:revision>10</cp:revision>
  <dcterms:created xsi:type="dcterms:W3CDTF">2013-01-27T09:14:16Z</dcterms:created>
  <dcterms:modified xsi:type="dcterms:W3CDTF">2024-10-21T08:00:54Z</dcterms:modified>
  <cp:category/>
</cp:coreProperties>
</file>